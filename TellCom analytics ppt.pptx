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7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7A9779-AEC7-4205-8747-D48008866772}" v="29" dt="2026-10-01T11:56:35.1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an jadoun" userId="a6e309cf472a7cce" providerId="LiveId" clId="{911348F4-3F02-47D4-9639-C661C0FF3ADA}"/>
    <pc:docChg chg="undo custSel modSld">
      <pc:chgData name="kiran jadoun" userId="a6e309cf472a7cce" providerId="LiveId" clId="{911348F4-3F02-47D4-9639-C661C0FF3ADA}" dt="2026-10-01T12:51:31.295" v="704" actId="14100"/>
      <pc:docMkLst>
        <pc:docMk/>
      </pc:docMkLst>
      <pc:sldChg chg="modSp mod">
        <pc:chgData name="kiran jadoun" userId="a6e309cf472a7cce" providerId="LiveId" clId="{911348F4-3F02-47D4-9639-C661C0FF3ADA}" dt="2026-10-01T12:51:31.295" v="704" actId="14100"/>
        <pc:sldMkLst>
          <pc:docMk/>
          <pc:sldMk cId="0" sldId="256"/>
        </pc:sldMkLst>
        <pc:spChg chg="mod">
          <ac:chgData name="kiran jadoun" userId="a6e309cf472a7cce" providerId="LiveId" clId="{911348F4-3F02-47D4-9639-C661C0FF3ADA}" dt="2026-10-01T12:10:30.814" v="699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kiran jadoun" userId="a6e309cf472a7cce" providerId="LiveId" clId="{911348F4-3F02-47D4-9639-C661C0FF3ADA}" dt="2026-10-01T05:31:14.955" v="0" actId="20577"/>
          <ac:spMkLst>
            <pc:docMk/>
            <pc:sldMk cId="0" sldId="256"/>
            <ac:spMk id="4" creationId="{00000000-0000-0000-0000-000000000000}"/>
          </ac:spMkLst>
        </pc:spChg>
        <pc:picChg chg="mod">
          <ac:chgData name="kiran jadoun" userId="a6e309cf472a7cce" providerId="LiveId" clId="{911348F4-3F02-47D4-9639-C661C0FF3ADA}" dt="2026-10-01T12:51:31.295" v="704" actId="14100"/>
          <ac:picMkLst>
            <pc:docMk/>
            <pc:sldMk cId="0" sldId="256"/>
            <ac:picMk id="29" creationId="{71C82627-DB41-40DB-BC77-5EFE3DF63FBC}"/>
          </ac:picMkLst>
        </pc:picChg>
      </pc:sldChg>
      <pc:sldChg chg="modSp mod">
        <pc:chgData name="kiran jadoun" userId="a6e309cf472a7cce" providerId="LiveId" clId="{911348F4-3F02-47D4-9639-C661C0FF3ADA}" dt="2026-10-01T05:33:17.318" v="2" actId="6549"/>
        <pc:sldMkLst>
          <pc:docMk/>
          <pc:sldMk cId="0" sldId="257"/>
        </pc:sldMkLst>
        <pc:spChg chg="mod">
          <ac:chgData name="kiran jadoun" userId="a6e309cf472a7cce" providerId="LiveId" clId="{911348F4-3F02-47D4-9639-C661C0FF3ADA}" dt="2026-10-01T05:33:17.318" v="2" actId="6549"/>
          <ac:spMkLst>
            <pc:docMk/>
            <pc:sldMk cId="0" sldId="257"/>
            <ac:spMk id="31" creationId="{00000000-0000-0000-0000-000000000000}"/>
          </ac:spMkLst>
        </pc:spChg>
      </pc:sldChg>
      <pc:sldChg chg="delSp modSp mod">
        <pc:chgData name="kiran jadoun" userId="a6e309cf472a7cce" providerId="LiveId" clId="{911348F4-3F02-47D4-9639-C661C0FF3ADA}" dt="2026-10-01T05:46:33.745" v="101"/>
        <pc:sldMkLst>
          <pc:docMk/>
          <pc:sldMk cId="0" sldId="259"/>
        </pc:sldMkLst>
        <pc:spChg chg="mod">
          <ac:chgData name="kiran jadoun" userId="a6e309cf472a7cce" providerId="LiveId" clId="{911348F4-3F02-47D4-9639-C661C0FF3ADA}" dt="2026-10-01T05:43:56.461" v="74" actId="20578"/>
          <ac:spMkLst>
            <pc:docMk/>
            <pc:sldMk cId="0" sldId="259"/>
            <ac:spMk id="2" creationId="{00000000-0000-0000-0000-000000000000}"/>
          </ac:spMkLst>
        </pc:spChg>
        <pc:spChg chg="mod">
          <ac:chgData name="kiran jadoun" userId="a6e309cf472a7cce" providerId="LiveId" clId="{911348F4-3F02-47D4-9639-C661C0FF3ADA}" dt="2026-10-01T05:42:01.859" v="22" actId="20577"/>
          <ac:spMkLst>
            <pc:docMk/>
            <pc:sldMk cId="0" sldId="259"/>
            <ac:spMk id="35" creationId="{00000000-0000-0000-0000-000000000000}"/>
          </ac:spMkLst>
        </pc:spChg>
        <pc:spChg chg="mod">
          <ac:chgData name="kiran jadoun" userId="a6e309cf472a7cce" providerId="LiveId" clId="{911348F4-3F02-47D4-9639-C661C0FF3ADA}" dt="2026-10-01T05:45:46.058" v="93" actId="255"/>
          <ac:spMkLst>
            <pc:docMk/>
            <pc:sldMk cId="0" sldId="259"/>
            <ac:spMk id="39" creationId="{00000000-0000-0000-0000-000000000000}"/>
          </ac:spMkLst>
        </pc:spChg>
        <pc:spChg chg="del mod">
          <ac:chgData name="kiran jadoun" userId="a6e309cf472a7cce" providerId="LiveId" clId="{911348F4-3F02-47D4-9639-C661C0FF3ADA}" dt="2026-10-01T05:46:33.741" v="95"/>
          <ac:spMkLst>
            <pc:docMk/>
            <pc:sldMk cId="0" sldId="259"/>
            <ac:spMk id="41" creationId="{00000000-0000-0000-0000-000000000000}"/>
          </ac:spMkLst>
        </pc:spChg>
        <pc:spChg chg="mod">
          <ac:chgData name="kiran jadoun" userId="a6e309cf472a7cce" providerId="LiveId" clId="{911348F4-3F02-47D4-9639-C661C0FF3ADA}" dt="2026-10-01T05:45:24.592" v="90" actId="255"/>
          <ac:spMkLst>
            <pc:docMk/>
            <pc:sldMk cId="0" sldId="259"/>
            <ac:spMk id="44" creationId="{00000000-0000-0000-0000-000000000000}"/>
          </ac:spMkLst>
        </pc:spChg>
        <pc:spChg chg="del mod">
          <ac:chgData name="kiran jadoun" userId="a6e309cf472a7cce" providerId="LiveId" clId="{911348F4-3F02-47D4-9639-C661C0FF3ADA}" dt="2026-10-01T05:46:33.745" v="99"/>
          <ac:spMkLst>
            <pc:docMk/>
            <pc:sldMk cId="0" sldId="259"/>
            <ac:spMk id="46" creationId="{00000000-0000-0000-0000-000000000000}"/>
          </ac:spMkLst>
        </pc:spChg>
        <pc:spChg chg="mod">
          <ac:chgData name="kiran jadoun" userId="a6e309cf472a7cce" providerId="LiveId" clId="{911348F4-3F02-47D4-9639-C661C0FF3ADA}" dt="2026-10-01T05:45:39.061" v="92" actId="255"/>
          <ac:spMkLst>
            <pc:docMk/>
            <pc:sldMk cId="0" sldId="259"/>
            <ac:spMk id="49" creationId="{00000000-0000-0000-0000-000000000000}"/>
          </ac:spMkLst>
        </pc:spChg>
        <pc:spChg chg="del mod">
          <ac:chgData name="kiran jadoun" userId="a6e309cf472a7cce" providerId="LiveId" clId="{911348F4-3F02-47D4-9639-C661C0FF3ADA}" dt="2026-10-01T05:46:33.743" v="97"/>
          <ac:spMkLst>
            <pc:docMk/>
            <pc:sldMk cId="0" sldId="259"/>
            <ac:spMk id="51" creationId="{00000000-0000-0000-0000-000000000000}"/>
          </ac:spMkLst>
        </pc:spChg>
        <pc:spChg chg="mod">
          <ac:chgData name="kiran jadoun" userId="a6e309cf472a7cce" providerId="LiveId" clId="{911348F4-3F02-47D4-9639-C661C0FF3ADA}" dt="2026-10-01T05:45:31.650" v="91" actId="255"/>
          <ac:spMkLst>
            <pc:docMk/>
            <pc:sldMk cId="0" sldId="259"/>
            <ac:spMk id="54" creationId="{00000000-0000-0000-0000-000000000000}"/>
          </ac:spMkLst>
        </pc:spChg>
        <pc:spChg chg="del mod">
          <ac:chgData name="kiran jadoun" userId="a6e309cf472a7cce" providerId="LiveId" clId="{911348F4-3F02-47D4-9639-C661C0FF3ADA}" dt="2026-10-01T05:46:33.745" v="101"/>
          <ac:spMkLst>
            <pc:docMk/>
            <pc:sldMk cId="0" sldId="259"/>
            <ac:spMk id="56" creationId="{00000000-0000-0000-0000-000000000000}"/>
          </ac:spMkLst>
        </pc:spChg>
      </pc:sldChg>
      <pc:sldChg chg="modSp mod">
        <pc:chgData name="kiran jadoun" userId="a6e309cf472a7cce" providerId="LiveId" clId="{911348F4-3F02-47D4-9639-C661C0FF3ADA}" dt="2026-10-01T05:50:48.026" v="108" actId="1076"/>
        <pc:sldMkLst>
          <pc:docMk/>
          <pc:sldMk cId="0" sldId="260"/>
        </pc:sldMkLst>
        <pc:spChg chg="mod">
          <ac:chgData name="kiran jadoun" userId="a6e309cf472a7cce" providerId="LiveId" clId="{911348F4-3F02-47D4-9639-C661C0FF3ADA}" dt="2026-10-01T05:49:48.200" v="102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kiran jadoun" userId="a6e309cf472a7cce" providerId="LiveId" clId="{911348F4-3F02-47D4-9639-C661C0FF3ADA}" dt="2026-10-01T05:50:29.415" v="10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kiran jadoun" userId="a6e309cf472a7cce" providerId="LiveId" clId="{911348F4-3F02-47D4-9639-C661C0FF3ADA}" dt="2026-10-01T05:50:48.026" v="108" actId="1076"/>
          <ac:spMkLst>
            <pc:docMk/>
            <pc:sldMk cId="0" sldId="260"/>
            <ac:spMk id="14" creationId="{C0F85384-6F6C-E83C-FEE3-BA86933F4007}"/>
          </ac:spMkLst>
        </pc:spChg>
      </pc:sldChg>
      <pc:sldChg chg="addSp delSp modSp mod">
        <pc:chgData name="kiran jadoun" userId="a6e309cf472a7cce" providerId="LiveId" clId="{911348F4-3F02-47D4-9639-C661C0FF3ADA}" dt="2026-10-01T06:35:40.975" v="116" actId="14100"/>
        <pc:sldMkLst>
          <pc:docMk/>
          <pc:sldMk cId="0" sldId="261"/>
        </pc:sldMkLst>
        <pc:picChg chg="del">
          <ac:chgData name="kiran jadoun" userId="a6e309cf472a7cce" providerId="LiveId" clId="{911348F4-3F02-47D4-9639-C661C0FF3ADA}" dt="2026-10-01T06:34:02.769" v="109" actId="478"/>
          <ac:picMkLst>
            <pc:docMk/>
            <pc:sldMk cId="0" sldId="261"/>
            <ac:picMk id="8" creationId="{00000000-0000-0000-0000-000000000000}"/>
          </ac:picMkLst>
        </pc:picChg>
        <pc:picChg chg="add mod">
          <ac:chgData name="kiran jadoun" userId="a6e309cf472a7cce" providerId="LiveId" clId="{911348F4-3F02-47D4-9639-C661C0FF3ADA}" dt="2026-10-01T06:35:40.975" v="116" actId="14100"/>
          <ac:picMkLst>
            <pc:docMk/>
            <pc:sldMk cId="0" sldId="261"/>
            <ac:picMk id="15" creationId="{A40D3F14-7360-8DC8-5CFE-F80BA1070025}"/>
          </ac:picMkLst>
        </pc:picChg>
      </pc:sldChg>
      <pc:sldChg chg="delSp modSp mod">
        <pc:chgData name="kiran jadoun" userId="a6e309cf472a7cce" providerId="LiveId" clId="{911348F4-3F02-47D4-9639-C661C0FF3ADA}" dt="2026-10-01T06:45:45.059" v="154" actId="20577"/>
        <pc:sldMkLst>
          <pc:docMk/>
          <pc:sldMk cId="0" sldId="262"/>
        </pc:sldMkLst>
        <pc:spChg chg="del mod">
          <ac:chgData name="kiran jadoun" userId="a6e309cf472a7cce" providerId="LiveId" clId="{911348F4-3F02-47D4-9639-C661C0FF3ADA}" dt="2026-10-01T06:37:18.844" v="119"/>
          <ac:spMkLst>
            <pc:docMk/>
            <pc:sldMk cId="0" sldId="262"/>
            <ac:spMk id="5" creationId="{00000000-0000-0000-0000-000000000000}"/>
          </ac:spMkLst>
        </pc:spChg>
        <pc:spChg chg="mod">
          <ac:chgData name="kiran jadoun" userId="a6e309cf472a7cce" providerId="LiveId" clId="{911348F4-3F02-47D4-9639-C661C0FF3ADA}" dt="2026-10-01T06:42:12.347" v="120" actId="107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kiran jadoun" userId="a6e309cf472a7cce" providerId="LiveId" clId="{911348F4-3F02-47D4-9639-C661C0FF3ADA}" dt="2026-10-01T06:45:45.059" v="154" actId="20577"/>
          <ac:spMkLst>
            <pc:docMk/>
            <pc:sldMk cId="0" sldId="262"/>
            <ac:spMk id="23" creationId="{00000000-0000-0000-0000-000000000000}"/>
          </ac:spMkLst>
        </pc:spChg>
      </pc:sldChg>
      <pc:sldChg chg="modSp mod">
        <pc:chgData name="kiran jadoun" userId="a6e309cf472a7cce" providerId="LiveId" clId="{911348F4-3F02-47D4-9639-C661C0FF3ADA}" dt="2026-10-01T06:51:04.552" v="157" actId="20577"/>
        <pc:sldMkLst>
          <pc:docMk/>
          <pc:sldMk cId="0" sldId="263"/>
        </pc:sldMkLst>
        <pc:spChg chg="mod">
          <ac:chgData name="kiran jadoun" userId="a6e309cf472a7cce" providerId="LiveId" clId="{911348F4-3F02-47D4-9639-C661C0FF3ADA}" dt="2026-10-01T06:51:04.552" v="157" actId="20577"/>
          <ac:spMkLst>
            <pc:docMk/>
            <pc:sldMk cId="0" sldId="263"/>
            <ac:spMk id="6" creationId="{00000000-0000-0000-0000-000000000000}"/>
          </ac:spMkLst>
        </pc:spChg>
      </pc:sldChg>
      <pc:sldChg chg="addSp modSp mod">
        <pc:chgData name="kiran jadoun" userId="a6e309cf472a7cce" providerId="LiveId" clId="{911348F4-3F02-47D4-9639-C661C0FF3ADA}" dt="2026-10-01T07:42:13.406" v="169" actId="14100"/>
        <pc:sldMkLst>
          <pc:docMk/>
          <pc:sldMk cId="0" sldId="265"/>
        </pc:sldMkLst>
        <pc:spChg chg="mod">
          <ac:chgData name="kiran jadoun" userId="a6e309cf472a7cce" providerId="LiveId" clId="{911348F4-3F02-47D4-9639-C661C0FF3ADA}" dt="2026-10-01T07:26:55.484" v="159"/>
          <ac:spMkLst>
            <pc:docMk/>
            <pc:sldMk cId="0" sldId="265"/>
            <ac:spMk id="24" creationId="{00000000-0000-0000-0000-000000000000}"/>
          </ac:spMkLst>
        </pc:spChg>
        <pc:spChg chg="add mod">
          <ac:chgData name="kiran jadoun" userId="a6e309cf472a7cce" providerId="LiveId" clId="{911348F4-3F02-47D4-9639-C661C0FF3ADA}" dt="2026-10-01T07:42:13.406" v="169" actId="14100"/>
          <ac:spMkLst>
            <pc:docMk/>
            <pc:sldMk cId="0" sldId="265"/>
            <ac:spMk id="30" creationId="{C60CC62F-E125-FFCF-E4B6-A8EDC24BB0D9}"/>
          </ac:spMkLst>
        </pc:spChg>
        <pc:picChg chg="mod">
          <ac:chgData name="kiran jadoun" userId="a6e309cf472a7cce" providerId="LiveId" clId="{911348F4-3F02-47D4-9639-C661C0FF3ADA}" dt="2026-10-01T07:41:08.552" v="164" actId="14100"/>
          <ac:picMkLst>
            <pc:docMk/>
            <pc:sldMk cId="0" sldId="265"/>
            <ac:picMk id="7" creationId="{00000000-0000-0000-0000-000000000000}"/>
          </ac:picMkLst>
        </pc:picChg>
        <pc:picChg chg="add mod">
          <ac:chgData name="kiran jadoun" userId="a6e309cf472a7cce" providerId="LiveId" clId="{911348F4-3F02-47D4-9639-C661C0FF3ADA}" dt="2026-10-01T07:39:27.371" v="163" actId="1076"/>
          <ac:picMkLst>
            <pc:docMk/>
            <pc:sldMk cId="0" sldId="265"/>
            <ac:picMk id="29" creationId="{50DDDCAA-9E04-79E8-55B5-9022DE0DF7BF}"/>
          </ac:picMkLst>
        </pc:picChg>
      </pc:sldChg>
      <pc:sldChg chg="modSp mod">
        <pc:chgData name="kiran jadoun" userId="a6e309cf472a7cce" providerId="LiveId" clId="{911348F4-3F02-47D4-9639-C661C0FF3ADA}" dt="2026-10-01T07:55:42.937" v="484"/>
        <pc:sldMkLst>
          <pc:docMk/>
          <pc:sldMk cId="0" sldId="267"/>
        </pc:sldMkLst>
        <pc:spChg chg="mod">
          <ac:chgData name="kiran jadoun" userId="a6e309cf472a7cce" providerId="LiveId" clId="{911348F4-3F02-47D4-9639-C661C0FF3ADA}" dt="2026-10-01T07:55:42.937" v="484"/>
          <ac:spMkLst>
            <pc:docMk/>
            <pc:sldMk cId="0" sldId="267"/>
            <ac:spMk id="15" creationId="{B01B20ED-DAC5-5291-DA3C-0D151B49AB5E}"/>
          </ac:spMkLst>
        </pc:spChg>
      </pc:sldChg>
      <pc:sldChg chg="delSp modSp mod">
        <pc:chgData name="kiran jadoun" userId="a6e309cf472a7cce" providerId="LiveId" clId="{911348F4-3F02-47D4-9639-C661C0FF3ADA}" dt="2026-10-01T07:56:38.491" v="490"/>
        <pc:sldMkLst>
          <pc:docMk/>
          <pc:sldMk cId="0" sldId="268"/>
        </pc:sldMkLst>
        <pc:spChg chg="del mod">
          <ac:chgData name="kiran jadoun" userId="a6e309cf472a7cce" providerId="LiveId" clId="{911348F4-3F02-47D4-9639-C661C0FF3ADA}" dt="2026-10-01T07:56:38.491" v="488"/>
          <ac:spMkLst>
            <pc:docMk/>
            <pc:sldMk cId="0" sldId="268"/>
            <ac:spMk id="5" creationId="{00000000-0000-0000-0000-000000000000}"/>
          </ac:spMkLst>
        </pc:spChg>
        <pc:spChg chg="del mod">
          <ac:chgData name="kiran jadoun" userId="a6e309cf472a7cce" providerId="LiveId" clId="{911348F4-3F02-47D4-9639-C661C0FF3ADA}" dt="2026-10-01T07:56:38.491" v="490"/>
          <ac:spMkLst>
            <pc:docMk/>
            <pc:sldMk cId="0" sldId="268"/>
            <ac:spMk id="40" creationId="{00000000-0000-0000-0000-000000000000}"/>
          </ac:spMkLst>
        </pc:spChg>
      </pc:sldChg>
      <pc:sldChg chg="modSp mod">
        <pc:chgData name="kiran jadoun" userId="a6e309cf472a7cce" providerId="LiveId" clId="{911348F4-3F02-47D4-9639-C661C0FF3ADA}" dt="2026-10-01T09:10:53.620" v="493" actId="14100"/>
        <pc:sldMkLst>
          <pc:docMk/>
          <pc:sldMk cId="0" sldId="270"/>
        </pc:sldMkLst>
        <pc:spChg chg="mod">
          <ac:chgData name="kiran jadoun" userId="a6e309cf472a7cce" providerId="LiveId" clId="{911348F4-3F02-47D4-9639-C661C0FF3ADA}" dt="2026-10-01T09:10:40.340" v="491" actId="14100"/>
          <ac:spMkLst>
            <pc:docMk/>
            <pc:sldMk cId="0" sldId="270"/>
            <ac:spMk id="7" creationId="{00000000-0000-0000-0000-000000000000}"/>
          </ac:spMkLst>
        </pc:spChg>
        <pc:spChg chg="mod">
          <ac:chgData name="kiran jadoun" userId="a6e309cf472a7cce" providerId="LiveId" clId="{911348F4-3F02-47D4-9639-C661C0FF3ADA}" dt="2026-10-01T09:10:47.023" v="492" actId="14100"/>
          <ac:spMkLst>
            <pc:docMk/>
            <pc:sldMk cId="0" sldId="270"/>
            <ac:spMk id="12" creationId="{00000000-0000-0000-0000-000000000000}"/>
          </ac:spMkLst>
        </pc:spChg>
        <pc:spChg chg="mod">
          <ac:chgData name="kiran jadoun" userId="a6e309cf472a7cce" providerId="LiveId" clId="{911348F4-3F02-47D4-9639-C661C0FF3ADA}" dt="2026-10-01T09:10:53.620" v="493" actId="14100"/>
          <ac:spMkLst>
            <pc:docMk/>
            <pc:sldMk cId="0" sldId="270"/>
            <ac:spMk id="17" creationId="{00000000-0000-0000-0000-000000000000}"/>
          </ac:spMkLst>
        </pc:spChg>
      </pc:sldChg>
      <pc:sldChg chg="addSp delSp modSp mod">
        <pc:chgData name="kiran jadoun" userId="a6e309cf472a7cce" providerId="LiveId" clId="{911348F4-3F02-47D4-9639-C661C0FF3ADA}" dt="2026-10-01T09:42:25.587" v="507"/>
        <pc:sldMkLst>
          <pc:docMk/>
          <pc:sldMk cId="0" sldId="271"/>
        </pc:sldMkLst>
        <pc:spChg chg="mod">
          <ac:chgData name="kiran jadoun" userId="a6e309cf472a7cce" providerId="LiveId" clId="{911348F4-3F02-47D4-9639-C661C0FF3ADA}" dt="2026-10-01T09:35:29.663" v="497" actId="1076"/>
          <ac:spMkLst>
            <pc:docMk/>
            <pc:sldMk cId="0" sldId="271"/>
            <ac:spMk id="2" creationId="{00000000-0000-0000-0000-000000000000}"/>
          </ac:spMkLst>
        </pc:spChg>
        <pc:spChg chg="del mod">
          <ac:chgData name="kiran jadoun" userId="a6e309cf472a7cce" providerId="LiveId" clId="{911348F4-3F02-47D4-9639-C661C0FF3ADA}" dt="2026-10-01T09:18:10.219" v="496"/>
          <ac:spMkLst>
            <pc:docMk/>
            <pc:sldMk cId="0" sldId="271"/>
            <ac:spMk id="5" creationId="{00000000-0000-0000-0000-000000000000}"/>
          </ac:spMkLst>
        </pc:spChg>
        <pc:spChg chg="mod">
          <ac:chgData name="kiran jadoun" userId="a6e309cf472a7cce" providerId="LiveId" clId="{911348F4-3F02-47D4-9639-C661C0FF3ADA}" dt="2026-10-01T09:42:25.587" v="507"/>
          <ac:spMkLst>
            <pc:docMk/>
            <pc:sldMk cId="0" sldId="271"/>
            <ac:spMk id="28" creationId="{00000000-0000-0000-0000-000000000000}"/>
          </ac:spMkLst>
        </pc:spChg>
        <pc:spChg chg="mod">
          <ac:chgData name="kiran jadoun" userId="a6e309cf472a7cce" providerId="LiveId" clId="{911348F4-3F02-47D4-9639-C661C0FF3ADA}" dt="2026-10-01T09:35:41.323" v="499" actId="14100"/>
          <ac:spMkLst>
            <pc:docMk/>
            <pc:sldMk cId="0" sldId="271"/>
            <ac:spMk id="33" creationId="{00000000-0000-0000-0000-000000000000}"/>
          </ac:spMkLst>
        </pc:spChg>
        <pc:picChg chg="add mod">
          <ac:chgData name="kiran jadoun" userId="a6e309cf472a7cce" providerId="LiveId" clId="{911348F4-3F02-47D4-9639-C661C0FF3ADA}" dt="2026-10-01T09:36:34.311" v="505" actId="1076"/>
          <ac:picMkLst>
            <pc:docMk/>
            <pc:sldMk cId="0" sldId="271"/>
            <ac:picMk id="35" creationId="{AFC158F0-E58A-2A55-ACC4-4F333A8ACD2A}"/>
          </ac:picMkLst>
        </pc:picChg>
      </pc:sldChg>
      <pc:sldChg chg="modSp mod">
        <pc:chgData name="kiran jadoun" userId="a6e309cf472a7cce" providerId="LiveId" clId="{911348F4-3F02-47D4-9639-C661C0FF3ADA}" dt="2026-10-01T10:14:46.924" v="513"/>
        <pc:sldMkLst>
          <pc:docMk/>
          <pc:sldMk cId="0" sldId="272"/>
        </pc:sldMkLst>
        <pc:spChg chg="mod">
          <ac:chgData name="kiran jadoun" userId="a6e309cf472a7cce" providerId="LiveId" clId="{911348F4-3F02-47D4-9639-C661C0FF3ADA}" dt="2026-10-01T10:12:58.486" v="508" actId="14100"/>
          <ac:spMkLst>
            <pc:docMk/>
            <pc:sldMk cId="0" sldId="272"/>
            <ac:spMk id="7" creationId="{00000000-0000-0000-0000-000000000000}"/>
          </ac:spMkLst>
        </pc:spChg>
        <pc:spChg chg="mod">
          <ac:chgData name="kiran jadoun" userId="a6e309cf472a7cce" providerId="LiveId" clId="{911348F4-3F02-47D4-9639-C661C0FF3ADA}" dt="2026-10-01T10:13:43.220" v="510"/>
          <ac:spMkLst>
            <pc:docMk/>
            <pc:sldMk cId="0" sldId="272"/>
            <ac:spMk id="11" creationId="{00000000-0000-0000-0000-000000000000}"/>
          </ac:spMkLst>
        </pc:spChg>
        <pc:spChg chg="mod">
          <ac:chgData name="kiran jadoun" userId="a6e309cf472a7cce" providerId="LiveId" clId="{911348F4-3F02-47D4-9639-C661C0FF3ADA}" dt="2026-10-01T10:14:00.525" v="511" actId="14100"/>
          <ac:spMkLst>
            <pc:docMk/>
            <pc:sldMk cId="0" sldId="272"/>
            <ac:spMk id="12" creationId="{00000000-0000-0000-0000-000000000000}"/>
          </ac:spMkLst>
        </pc:spChg>
        <pc:spChg chg="mod">
          <ac:chgData name="kiran jadoun" userId="a6e309cf472a7cce" providerId="LiveId" clId="{911348F4-3F02-47D4-9639-C661C0FF3ADA}" dt="2026-10-01T10:14:46.924" v="513"/>
          <ac:spMkLst>
            <pc:docMk/>
            <pc:sldMk cId="0" sldId="272"/>
            <ac:spMk id="16" creationId="{00000000-0000-0000-0000-000000000000}"/>
          </ac:spMkLst>
        </pc:spChg>
      </pc:sldChg>
      <pc:sldChg chg="delSp modSp mod">
        <pc:chgData name="kiran jadoun" userId="a6e309cf472a7cce" providerId="LiveId" clId="{911348F4-3F02-47D4-9639-C661C0FF3ADA}" dt="2026-10-01T10:39:17.942" v="553"/>
        <pc:sldMkLst>
          <pc:docMk/>
          <pc:sldMk cId="0" sldId="273"/>
        </pc:sldMkLst>
        <pc:spChg chg="mod">
          <ac:chgData name="kiran jadoun" userId="a6e309cf472a7cce" providerId="LiveId" clId="{911348F4-3F02-47D4-9639-C661C0FF3ADA}" dt="2026-10-01T10:38:43.195" v="551" actId="20577"/>
          <ac:spMkLst>
            <pc:docMk/>
            <pc:sldMk cId="0" sldId="273"/>
            <ac:spMk id="22" creationId="{00000000-0000-0000-0000-000000000000}"/>
          </ac:spMkLst>
        </pc:spChg>
        <pc:spChg chg="del mod">
          <ac:chgData name="kiran jadoun" userId="a6e309cf472a7cce" providerId="LiveId" clId="{911348F4-3F02-47D4-9639-C661C0FF3ADA}" dt="2026-10-01T10:39:17.942" v="553"/>
          <ac:spMkLst>
            <pc:docMk/>
            <pc:sldMk cId="0" sldId="273"/>
            <ac:spMk id="23" creationId="{00000000-0000-0000-0000-000000000000}"/>
          </ac:spMkLst>
        </pc:spChg>
      </pc:sldChg>
      <pc:sldChg chg="addSp delSp modSp mod">
        <pc:chgData name="kiran jadoun" userId="a6e309cf472a7cce" providerId="LiveId" clId="{911348F4-3F02-47D4-9639-C661C0FF3ADA}" dt="2026-10-01T11:26:04.966" v="690" actId="20577"/>
        <pc:sldMkLst>
          <pc:docMk/>
          <pc:sldMk cId="0" sldId="274"/>
        </pc:sldMkLst>
        <pc:spChg chg="mod">
          <ac:chgData name="kiran jadoun" userId="a6e309cf472a7cce" providerId="LiveId" clId="{911348F4-3F02-47D4-9639-C661C0FF3ADA}" dt="2026-10-01T11:26:04.966" v="690" actId="20577"/>
          <ac:spMkLst>
            <pc:docMk/>
            <pc:sldMk cId="0" sldId="274"/>
            <ac:spMk id="4" creationId="{00000000-0000-0000-0000-000000000000}"/>
          </ac:spMkLst>
        </pc:spChg>
        <pc:spChg chg="mod">
          <ac:chgData name="kiran jadoun" userId="a6e309cf472a7cce" providerId="LiveId" clId="{911348F4-3F02-47D4-9639-C661C0FF3ADA}" dt="2026-10-01T11:14:28.690" v="640" actId="20577"/>
          <ac:spMkLst>
            <pc:docMk/>
            <pc:sldMk cId="0" sldId="274"/>
            <ac:spMk id="8" creationId="{00000000-0000-0000-0000-000000000000}"/>
          </ac:spMkLst>
        </pc:spChg>
        <pc:spChg chg="mod">
          <ac:chgData name="kiran jadoun" userId="a6e309cf472a7cce" providerId="LiveId" clId="{911348F4-3F02-47D4-9639-C661C0FF3ADA}" dt="2026-10-01T11:14:44.148" v="645" actId="20577"/>
          <ac:spMkLst>
            <pc:docMk/>
            <pc:sldMk cId="0" sldId="274"/>
            <ac:spMk id="10" creationId="{00000000-0000-0000-0000-000000000000}"/>
          </ac:spMkLst>
        </pc:spChg>
        <pc:spChg chg="mod">
          <ac:chgData name="kiran jadoun" userId="a6e309cf472a7cce" providerId="LiveId" clId="{911348F4-3F02-47D4-9639-C661C0FF3ADA}" dt="2026-10-01T11:14:54.211" v="648" actId="20577"/>
          <ac:spMkLst>
            <pc:docMk/>
            <pc:sldMk cId="0" sldId="274"/>
            <ac:spMk id="12" creationId="{00000000-0000-0000-0000-000000000000}"/>
          </ac:spMkLst>
        </pc:spChg>
        <pc:spChg chg="del mod">
          <ac:chgData name="kiran jadoun" userId="a6e309cf472a7cce" providerId="LiveId" clId="{911348F4-3F02-47D4-9639-C661C0FF3ADA}" dt="2026-10-01T11:05:43.421" v="628" actId="478"/>
          <ac:spMkLst>
            <pc:docMk/>
            <pc:sldMk cId="0" sldId="274"/>
            <ac:spMk id="16" creationId="{539878B4-6FB2-CC19-4BCA-07B46F551CD6}"/>
          </ac:spMkLst>
        </pc:spChg>
        <pc:spChg chg="add mod">
          <ac:chgData name="kiran jadoun" userId="a6e309cf472a7cce" providerId="LiveId" clId="{911348F4-3F02-47D4-9639-C661C0FF3ADA}" dt="2026-10-01T11:16:48.849" v="657" actId="1076"/>
          <ac:spMkLst>
            <pc:docMk/>
            <pc:sldMk cId="0" sldId="274"/>
            <ac:spMk id="17" creationId="{C67ADE2B-AD1C-C67E-4577-329737E67BBB}"/>
          </ac:spMkLst>
        </pc:spChg>
        <pc:picChg chg="add mod">
          <ac:chgData name="kiran jadoun" userId="a6e309cf472a7cce" providerId="LiveId" clId="{911348F4-3F02-47D4-9639-C661C0FF3ADA}" dt="2026-10-01T11:23:26.443" v="670" actId="1076"/>
          <ac:picMkLst>
            <pc:docMk/>
            <pc:sldMk cId="0" sldId="274"/>
            <ac:picMk id="19" creationId="{6DE34DDC-6C3E-128A-6C27-9107CD824B23}"/>
          </ac:picMkLst>
        </pc:picChg>
      </pc:sldChg>
      <pc:sldChg chg="addSp modSp mod">
        <pc:chgData name="kiran jadoun" userId="a6e309cf472a7cce" providerId="LiveId" clId="{911348F4-3F02-47D4-9639-C661C0FF3ADA}" dt="2026-10-01T11:30:47.158" v="698" actId="14100"/>
        <pc:sldMkLst>
          <pc:docMk/>
          <pc:sldMk cId="0" sldId="275"/>
        </pc:sldMkLst>
        <pc:spChg chg="mod">
          <ac:chgData name="kiran jadoun" userId="a6e309cf472a7cce" providerId="LiveId" clId="{911348F4-3F02-47D4-9639-C661C0FF3ADA}" dt="2026-10-01T11:30:41.247" v="697" actId="1076"/>
          <ac:spMkLst>
            <pc:docMk/>
            <pc:sldMk cId="0" sldId="275"/>
            <ac:spMk id="6" creationId="{00000000-0000-0000-0000-000000000000}"/>
          </ac:spMkLst>
        </pc:spChg>
        <pc:spChg chg="add mod">
          <ac:chgData name="kiran jadoun" userId="a6e309cf472a7cce" providerId="LiveId" clId="{911348F4-3F02-47D4-9639-C661C0FF3ADA}" dt="2026-10-01T11:30:30.945" v="696"/>
          <ac:spMkLst>
            <pc:docMk/>
            <pc:sldMk cId="0" sldId="275"/>
            <ac:spMk id="11" creationId="{673D59EE-6CC4-4ED5-5407-B7214729D56C}"/>
          </ac:spMkLst>
        </pc:spChg>
        <pc:picChg chg="mod">
          <ac:chgData name="kiran jadoun" userId="a6e309cf472a7cce" providerId="LiveId" clId="{911348F4-3F02-47D4-9639-C661C0FF3ADA}" dt="2026-10-01T11:30:47.158" v="698" actId="14100"/>
          <ac:picMkLst>
            <pc:docMk/>
            <pc:sldMk cId="0" sldId="275"/>
            <ac:picMk id="10" creationId="{211E7538-CC2F-91C7-E053-20442B1E474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763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300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66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515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522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46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890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795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343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80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673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00002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1786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5451024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73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170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988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6129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853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699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249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1605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045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020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265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496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876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6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191" y="-267036"/>
            <a:ext cx="12191695" cy="7125036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8096" y="896112"/>
            <a:ext cx="1069848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rPr lang="en-IN" sz="6000" dirty="0">
                <a:latin typeface="+mj-lt"/>
              </a:rPr>
              <a:t>Tellco Customer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6866" y="3160455"/>
            <a:ext cx="5726006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22744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</a:rPr>
              <a:t>NextHikes IT Solution</a:t>
            </a:r>
            <a:r>
              <a:rPr lang="en-IN" dirty="0"/>
              <a:t> Solutions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6473951" y="5458968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62872" y="5458968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52760" y="614476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B4C3D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978339-5458-BE28-D85C-779B6B9F8812}"/>
              </a:ext>
            </a:extLst>
          </p:cNvPr>
          <p:cNvSpPr txBox="1"/>
          <p:nvPr/>
        </p:nvSpPr>
        <p:spPr>
          <a:xfrm>
            <a:off x="5700839" y="3439115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DC75EA-A959-CEF1-D046-E137D561507C}"/>
              </a:ext>
            </a:extLst>
          </p:cNvPr>
          <p:cNvSpPr txBox="1"/>
          <p:nvPr/>
        </p:nvSpPr>
        <p:spPr>
          <a:xfrm>
            <a:off x="4632111" y="4675409"/>
            <a:ext cx="2674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Shruti Pandey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1C82627-DB41-40DB-BC77-5EFE3DF63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556" y="1761474"/>
            <a:ext cx="4004579" cy="40350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Business Problem &amp; Project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Business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394960" cy="3493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Telecom networks generate large volumes of XDR (eXtended Detail Record) data, capturing customer activity across calls, data usage and network interactions. However, raw session-level records do not directly reveal customer behavior, engagement patterns, network experience or satisfaction. This project transforms XDR data into meaningful customer-level insights to identify usage patterns, experience gaps and service optimization opportunities.</a:t>
            </a:r>
          </a:p>
          <a:p>
            <a:pPr>
              <a:defRPr sz="1700" b="0">
                <a:solidFill>
                  <a:srgbClr val="28323E"/>
                </a:solidFill>
                <a:latin typeface="Aptos"/>
              </a:defRPr>
            </a:pPr>
            <a:endParaRPr lang="en-US" dirty="0"/>
          </a:p>
          <a:p>
            <a:pPr>
              <a:defRPr sz="1700" b="0">
                <a:solidFill>
                  <a:srgbClr val="28323E"/>
                </a:solidFill>
                <a:latin typeface="Aptos"/>
              </a:defRPr>
            </a:pPr>
            <a:endParaRPr lang="en-US" dirty="0"/>
          </a:p>
          <a:p>
            <a:pPr>
              <a:defRPr sz="1700" b="0">
                <a:solidFill>
                  <a:srgbClr val="28323E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21792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rPr dirty="0"/>
              <a:t>Four analytical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697480"/>
            <a:ext cx="49834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dirty="0"/>
              <a:t>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6510528"/>
            <a:ext cx="21512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D"/>
                </a:solidFill>
                <a:latin typeface="Aptos"/>
              </a:defRPr>
            </a:pPr>
            <a:r>
              <a:rPr dirty="0"/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84CFC8-3E29-77C5-7B87-E918090C18A8}"/>
              </a:ext>
            </a:extLst>
          </p:cNvPr>
          <p:cNvSpPr txBox="1"/>
          <p:nvPr/>
        </p:nvSpPr>
        <p:spPr>
          <a:xfrm>
            <a:off x="6319880" y="1828800"/>
            <a:ext cx="530352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01 — User Overview</a:t>
            </a:r>
          </a:p>
          <a:p>
            <a:r>
              <a:rPr lang="en-US" dirty="0"/>
              <a:t>Understand the customer base through demographics, customer segments and overall usage patterns.</a:t>
            </a:r>
          </a:p>
          <a:p>
            <a:endParaRPr lang="en-US" dirty="0"/>
          </a:p>
          <a:p>
            <a:r>
              <a:rPr lang="en-US" b="1" dirty="0"/>
              <a:t>02 — User Engagement</a:t>
            </a:r>
          </a:p>
          <a:p>
            <a:r>
              <a:rPr lang="en-US" dirty="0"/>
              <a:t>Measure customer engagement using session activity, data usage, call activity and interaction frequency.</a:t>
            </a:r>
          </a:p>
          <a:p>
            <a:endParaRPr lang="en-US" dirty="0"/>
          </a:p>
          <a:p>
            <a:r>
              <a:rPr lang="en-US" b="1" dirty="0"/>
              <a:t>03 — User Experience</a:t>
            </a:r>
          </a:p>
          <a:p>
            <a:r>
              <a:rPr lang="en-US" dirty="0"/>
              <a:t>Evaluate network experience through session performance, throughput, latency and service quality indicators.</a:t>
            </a:r>
          </a:p>
          <a:p>
            <a:endParaRPr lang="en-US" dirty="0"/>
          </a:p>
          <a:p>
            <a:r>
              <a:rPr lang="en-US" b="1" dirty="0"/>
              <a:t>04 — User Satisfaction</a:t>
            </a:r>
          </a:p>
          <a:p>
            <a:r>
              <a:rPr lang="en-US" dirty="0"/>
              <a:t>Combine engagement and experience metrics to identify customer satisfaction levels and segment-level patterns.</a:t>
            </a: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3376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Dataset Overview &amp; Data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The raw telecom xDR dataset contains 150,001 records and 55 columns; analysis is ultimately performed at customer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2560320" cy="1408176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73152" cy="1234440"/>
          </a:xfrm>
          <a:prstGeom prst="rect">
            <a:avLst/>
          </a:prstGeom>
          <a:solidFill>
            <a:srgbClr val="4B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39903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RAW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09928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150,001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40280"/>
            <a:ext cx="228600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b="1" dirty="0"/>
              <a:t>Telecom </a:t>
            </a:r>
            <a:r>
              <a:rPr b="1" dirty="0" err="1"/>
              <a:t>xDR</a:t>
            </a:r>
            <a:r>
              <a:rPr b="1" dirty="0"/>
              <a:t> session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234440"/>
            <a:ext cx="2560320" cy="1408176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1234440"/>
            <a:ext cx="73152" cy="123444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2152" y="139903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RAW 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1709928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240280"/>
            <a:ext cx="228600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b="1" dirty="0"/>
              <a:t>Identifiers, timestamps, network and app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234440"/>
            <a:ext cx="2560320" cy="1408176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1234440"/>
            <a:ext cx="73152" cy="123444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45352" y="139903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1709928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106,856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2240280"/>
            <a:ext cx="228600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b="1" dirty="0"/>
              <a:t>Unique MSISDNs in user-level outputs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234440"/>
            <a:ext cx="2560320" cy="1408176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23960" y="1234440"/>
            <a:ext cx="73152" cy="1234440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88552" y="139903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USABLE SESSIONS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1709928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148,935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8552" y="2240280"/>
            <a:ext cx="228600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b="1" dirty="0"/>
              <a:t>After removing records missing MSISDN / Start / 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27889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Core data-preparation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24612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t>Profile 55 columns &amp; data types</a:t>
            </a:r>
          </a:p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t>Treat numerical missing values by column mean</a:t>
            </a:r>
          </a:p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t>Remove records missing critical customer/time identifiers</a:t>
            </a:r>
          </a:p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t>Detect &amp; treat numerical outliers with IQR + mean replacement</a:t>
            </a:r>
          </a:p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t>Validate duplicates and create customer-level feature datasets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7889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Key analytical variables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246120"/>
            <a:ext cx="5029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rPr b="1" dirty="0"/>
              <a:t>Customer: MSISDN </a:t>
            </a:r>
            <a:r>
              <a:rPr lang="en-IN" b="1" dirty="0"/>
              <a:t>,</a:t>
            </a:r>
            <a:r>
              <a:rPr b="1" dirty="0"/>
              <a:t> Handset Type</a:t>
            </a:r>
          </a:p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rPr dirty="0"/>
              <a:t>Usage: </a:t>
            </a:r>
            <a:r>
              <a:rPr dirty="0" err="1"/>
              <a:t>xDR</a:t>
            </a:r>
            <a:r>
              <a:rPr dirty="0"/>
              <a:t> sessions, duration, DL/UL traffic</a:t>
            </a:r>
          </a:p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rPr dirty="0"/>
              <a:t>Network: TCP retransmission, RTT, throughput</a:t>
            </a:r>
          </a:p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rPr dirty="0"/>
              <a:t>Applications: Social Media, Google, Email, YouTube, Netflix, Gaming, Other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5806440"/>
            <a:ext cx="512064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08789"/>
                </a:solidFill>
                <a:latin typeface="Aptos"/>
              </a:defRPr>
            </a:pPr>
            <a:r>
              <a:rPr dirty="0"/>
              <a:t>Quality note: </a:t>
            </a:r>
            <a:r>
              <a:rPr lang="en-IN" dirty="0"/>
              <a:t>No duplicate records remain after data cleaning.</a:t>
            </a:r>
            <a:endParaRPr dirty="0"/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Data Preparation &amp;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7528471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rPr dirty="0"/>
              <a:t>Cleaning and transformation create consistent customer-level analytical datasets </a:t>
            </a:r>
            <a:r>
              <a:rPr lang="en-IN" dirty="0"/>
              <a:t>and features for task 1-4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73152" cy="1234440"/>
          </a:xfrm>
          <a:prstGeom prst="rect">
            <a:avLst/>
          </a:prstGeom>
          <a:solidFill>
            <a:srgbClr val="4B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58191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89280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423160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150,001 × 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18288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6973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14173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34640" y="1417320"/>
            <a:ext cx="73152" cy="123444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99232" y="158191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189280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423160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Missing + outliers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18288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6973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4173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1417320"/>
            <a:ext cx="73152" cy="123444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85231" y="158191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Aggregate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1" y="189280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1" y="2423160"/>
            <a:ext cx="1737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dirty="0"/>
              <a:t>106,856 </a:t>
            </a:r>
            <a:r>
              <a:rPr lang="en-IN" dirty="0"/>
              <a:t>customers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7114031" y="18288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6973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14173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06640" y="1417320"/>
            <a:ext cx="73152" cy="1234440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71231" y="158191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Standardize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1" y="189280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1" y="2423160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Clustering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18288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6973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14173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692640" y="1417320"/>
            <a:ext cx="73152" cy="1234440"/>
          </a:xfrm>
          <a:prstGeom prst="rect">
            <a:avLst/>
          </a:prstGeom>
          <a:solidFill>
            <a:srgbClr val="6D5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57232" y="158191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7232" y="189280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7232" y="2423160"/>
            <a:ext cx="1737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dirty="0"/>
              <a:t>K-Means </a:t>
            </a:r>
            <a:r>
              <a:rPr lang="en-IN" dirty="0"/>
              <a:t>clustering</a:t>
            </a:r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594360" y="3063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Derived customer-level features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356616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94360" y="3566160"/>
            <a:ext cx="73152" cy="96012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8952" y="3730752"/>
            <a:ext cx="4892040" cy="9848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rPr sz="1400" dirty="0"/>
              <a:t>Engagement</a:t>
            </a:r>
            <a:endParaRPr lang="en-IN" sz="1400" dirty="0"/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lang="en-IN" dirty="0"/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lang="en-IN" dirty="0"/>
          </a:p>
          <a:p>
            <a:pPr>
              <a:defRPr sz="1100" b="1">
                <a:solidFill>
                  <a:srgbClr val="69737D"/>
                </a:solidFill>
                <a:latin typeface="Aptos"/>
              </a:defRPr>
            </a:pPr>
            <a:r>
              <a:rPr lang="fr-FR" dirty="0" err="1"/>
              <a:t>xDR</a:t>
            </a:r>
            <a:r>
              <a:rPr lang="fr-FR" dirty="0"/>
              <a:t> sessions • session duration • total </a:t>
            </a:r>
            <a:r>
              <a:rPr lang="fr-FR" dirty="0" err="1"/>
              <a:t>traffic</a:t>
            </a:r>
            <a:endParaRPr lang="fr-FR" dirty="0"/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dirty="0"/>
          </a:p>
        </p:txBody>
      </p:sp>
      <p:sp>
        <p:nvSpPr>
          <p:cNvPr id="40" name="TextBox 39"/>
          <p:cNvSpPr txBox="1"/>
          <p:nvPr/>
        </p:nvSpPr>
        <p:spPr>
          <a:xfrm>
            <a:off x="758952" y="4041648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endParaRPr dirty="0"/>
          </a:p>
        </p:txBody>
      </p:sp>
      <p:sp>
        <p:nvSpPr>
          <p:cNvPr id="42" name="Rounded Rectangle 41"/>
          <p:cNvSpPr/>
          <p:nvPr/>
        </p:nvSpPr>
        <p:spPr>
          <a:xfrm>
            <a:off x="6172200" y="356616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172200" y="3566160"/>
            <a:ext cx="73152" cy="960120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36792" y="3730752"/>
            <a:ext cx="4892040" cy="9848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rPr sz="1400" dirty="0"/>
              <a:t>Experience</a:t>
            </a:r>
            <a:endParaRPr lang="en-IN" sz="1400" dirty="0"/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lang="en-IN" dirty="0"/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lang="en-IN" dirty="0"/>
          </a:p>
          <a:p>
            <a:pPr>
              <a:defRPr sz="1100" b="1">
                <a:solidFill>
                  <a:srgbClr val="69737D"/>
                </a:solidFill>
                <a:latin typeface="Aptos"/>
              </a:defRPr>
            </a:pPr>
            <a:r>
              <a:rPr lang="en-US" dirty="0"/>
              <a:t>TCP retransmission • RTT • throughput • handset</a:t>
            </a:r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dirty="0"/>
          </a:p>
        </p:txBody>
      </p:sp>
      <p:sp>
        <p:nvSpPr>
          <p:cNvPr id="45" name="TextBox 44"/>
          <p:cNvSpPr txBox="1"/>
          <p:nvPr/>
        </p:nvSpPr>
        <p:spPr>
          <a:xfrm>
            <a:off x="6336792" y="4041648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94360" y="470916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94360" y="4709160"/>
            <a:ext cx="73152" cy="960120"/>
          </a:xfrm>
          <a:prstGeom prst="rect">
            <a:avLst/>
          </a:prstGeom>
          <a:solidFill>
            <a:srgbClr val="6D5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58952" y="4873752"/>
            <a:ext cx="4892040" cy="9848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rPr sz="1400" dirty="0"/>
              <a:t>Satisfaction</a:t>
            </a:r>
            <a:endParaRPr lang="en-IN" sz="1400" dirty="0"/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lang="en-IN" dirty="0"/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lang="en-IN" dirty="0"/>
          </a:p>
          <a:p>
            <a:pPr>
              <a:defRPr sz="1100" b="1">
                <a:solidFill>
                  <a:srgbClr val="69737D"/>
                </a:solidFill>
                <a:latin typeface="Aptos"/>
              </a:defRPr>
            </a:pPr>
            <a:r>
              <a:rPr lang="fr-FR" dirty="0"/>
              <a:t>{Engagement Score + Experience Score}/2 → Satisfaction Score</a:t>
            </a:r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dirty="0"/>
          </a:p>
        </p:txBody>
      </p:sp>
      <p:sp>
        <p:nvSpPr>
          <p:cNvPr id="50" name="TextBox 49"/>
          <p:cNvSpPr txBox="1"/>
          <p:nvPr/>
        </p:nvSpPr>
        <p:spPr>
          <a:xfrm>
            <a:off x="758952" y="5184648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172200" y="470916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172200" y="4709160"/>
            <a:ext cx="73152" cy="960120"/>
          </a:xfrm>
          <a:prstGeom prst="rect">
            <a:avLst/>
          </a:prstGeom>
          <a:solidFill>
            <a:srgbClr val="4B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36792" y="4873752"/>
            <a:ext cx="4892040" cy="9848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rPr sz="1400" dirty="0"/>
              <a:t>Application</a:t>
            </a:r>
            <a:endParaRPr lang="en-IN" sz="1400" dirty="0"/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lang="en-IN" dirty="0"/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lang="en-IN" dirty="0"/>
          </a:p>
          <a:p>
            <a:pPr>
              <a:defRPr sz="1100" b="1">
                <a:solidFill>
                  <a:srgbClr val="69737D"/>
                </a:solidFill>
                <a:latin typeface="Aptos"/>
              </a:defRPr>
            </a:pPr>
            <a:r>
              <a:rPr lang="fr-FR" dirty="0"/>
              <a:t>7 application data volumes + </a:t>
            </a:r>
            <a:r>
              <a:rPr lang="fr-FR" dirty="0" err="1"/>
              <a:t>deciles</a:t>
            </a:r>
            <a:r>
              <a:rPr lang="fr-FR" dirty="0"/>
              <a:t> + </a:t>
            </a:r>
            <a:r>
              <a:rPr lang="fr-FR" dirty="0" err="1"/>
              <a:t>correlation</a:t>
            </a:r>
            <a:r>
              <a:rPr lang="fr-FR" dirty="0"/>
              <a:t> + PCA</a:t>
            </a:r>
          </a:p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endParaRPr dirty="0"/>
          </a:p>
        </p:txBody>
      </p:sp>
      <p:sp>
        <p:nvSpPr>
          <p:cNvPr id="55" name="TextBox 54"/>
          <p:cNvSpPr txBox="1"/>
          <p:nvPr/>
        </p:nvSpPr>
        <p:spPr>
          <a:xfrm>
            <a:off x="6336792" y="5184648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08789"/>
                </a:solidFill>
                <a:latin typeface="Aptos"/>
              </a:defRPr>
            </a:pPr>
            <a:r>
              <a:t>All downstream analytical datasets validate to 106,856 customers with 0 duplicate IDs and 0 missing values.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User Overview — Devices &amp; Manufacturers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The device landscape is concentrated around three major manufacturers, with Huawei B528S-23A the most frequently observed handset.</a:t>
            </a:r>
          </a:p>
        </p:txBody>
      </p:sp>
      <p:pic>
        <p:nvPicPr>
          <p:cNvPr id="7" name="Picture 6" descr="8a06_cell7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234440"/>
            <a:ext cx="5879225" cy="3406100"/>
          </a:xfrm>
          <a:prstGeom prst="rect">
            <a:avLst/>
          </a:prstGeom>
        </p:spPr>
      </p:pic>
      <p:pic>
        <p:nvPicPr>
          <p:cNvPr id="8" name="Picture 7" descr="8a06_cell8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195" y="1308791"/>
            <a:ext cx="5080085" cy="33676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490345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744"/>
                </a:solidFill>
                <a:latin typeface="Aptos"/>
              </a:defRPr>
            </a:pPr>
            <a:r>
              <a:t>Top manufacturer 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5061"/>
            <a:ext cx="6850049" cy="10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8323E"/>
                </a:solidFill>
                <a:latin typeface="Aptos"/>
              </a:defRPr>
            </a:pPr>
            <a:r>
              <a:rPr dirty="0"/>
              <a:t>Apple 59,464  •  Samsung 40,579  •  Huawei 34,366  |  Top handset: Huawei B528S-23A (19,727 observations)</a:t>
            </a:r>
            <a:endParaRPr lang="en-IN" dirty="0"/>
          </a:p>
          <a:p>
            <a:pPr algn="l">
              <a:defRPr sz="1300" b="0">
                <a:solidFill>
                  <a:srgbClr val="28323E"/>
                </a:solidFill>
                <a:latin typeface="Aptos"/>
              </a:defRPr>
            </a:pPr>
            <a:endParaRPr lang="en-IN" dirty="0"/>
          </a:p>
          <a:p>
            <a:pPr>
              <a:defRPr sz="1300" b="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Marketing implication: Focus device-specific campaigns and compatibility offers around the most-used Apple, Samsung and Huawei handsets.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F85384-6F6C-E83C-FEE3-BA86933F4007}"/>
              </a:ext>
            </a:extLst>
          </p:cNvPr>
          <p:cNvSpPr txBox="1"/>
          <p:nvPr/>
        </p:nvSpPr>
        <p:spPr>
          <a:xfrm>
            <a:off x="7824084" y="4850224"/>
            <a:ext cx="4367916" cy="1713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Top 5 Handsets By Manufacturer</a:t>
            </a:r>
          </a:p>
          <a:p>
            <a:endParaRPr lang="en-IN" sz="1000" b="1" dirty="0"/>
          </a:p>
          <a:p>
            <a:r>
              <a:rPr lang="en-IN" sz="1000" b="1" dirty="0"/>
              <a:t>Apple:</a:t>
            </a:r>
          </a:p>
          <a:p>
            <a:r>
              <a:rPr lang="en-IN" sz="1000" b="1" dirty="0"/>
              <a:t>iPhone 6S • iPhone 6 • iPhone 7 • iPhone SE • iPhone 8</a:t>
            </a:r>
          </a:p>
          <a:p>
            <a:endParaRPr lang="en-IN" sz="1000" b="1" dirty="0"/>
          </a:p>
          <a:p>
            <a:r>
              <a:rPr lang="en-IN" sz="1000" b="1" dirty="0"/>
              <a:t>Samsung:</a:t>
            </a:r>
          </a:p>
          <a:p>
            <a:r>
              <a:rPr lang="en-IN" sz="1000" b="1" dirty="0"/>
              <a:t>Galaxy S8 • Galaxy A5 • Galaxy J5 • Galaxy J3 • Galaxy S7</a:t>
            </a:r>
          </a:p>
          <a:p>
            <a:endParaRPr lang="en-IN" sz="1000" b="1" dirty="0"/>
          </a:p>
          <a:p>
            <a:r>
              <a:rPr lang="en-IN" sz="1000" b="1" dirty="0"/>
              <a:t>Huawei:</a:t>
            </a:r>
          </a:p>
          <a:p>
            <a:r>
              <a:rPr lang="en-IN" sz="1000" b="1" dirty="0"/>
              <a:t>B528S-23A • E5180 • P20 Lite/Nova 3E • P20 • Y6 2018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User Overview — Application Usage &amp; PCA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Application usage is highly correlated across categories; PCA shows that one dominant component captures most of the common usage variation.</a:t>
            </a:r>
          </a:p>
        </p:txBody>
      </p:sp>
      <p:pic>
        <p:nvPicPr>
          <p:cNvPr id="7" name="Picture 6" descr="8a06_cell6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577840" cy="4215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447509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22744"/>
                </a:solidFill>
                <a:latin typeface="Aptos"/>
              </a:defRPr>
            </a:pPr>
            <a:r>
              <a:rPr dirty="0"/>
              <a:t>Key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799" y="5691781"/>
            <a:ext cx="11505895" cy="70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20">
                <a:solidFill>
                  <a:srgbClr val="28323E"/>
                </a:solidFill>
                <a:latin typeface="Aptos"/>
              </a:defRPr>
            </a:pPr>
            <a:r>
              <a:rPr dirty="0"/>
              <a:t>Gaming and Other dominate total application traffic; Gaming ≈ 6.41×10¹³ bytes and Other ≈ 6.40×10¹³ bytes.</a:t>
            </a:r>
          </a:p>
          <a:p>
            <a:pPr>
              <a:spcAft>
                <a:spcPts val="200"/>
              </a:spcAft>
              <a:defRPr sz="1220">
                <a:solidFill>
                  <a:srgbClr val="28323E"/>
                </a:solidFill>
                <a:latin typeface="Aptos"/>
              </a:defRPr>
            </a:pPr>
            <a:r>
              <a:rPr dirty="0"/>
              <a:t>Strongest application correlation: YouTube–Netflix r = 0.74.</a:t>
            </a:r>
          </a:p>
          <a:p>
            <a:pPr>
              <a:spcAft>
                <a:spcPts val="200"/>
              </a:spcAft>
              <a:defRPr sz="1220">
                <a:solidFill>
                  <a:srgbClr val="28323E"/>
                </a:solidFill>
                <a:latin typeface="Aptos"/>
              </a:defRPr>
            </a:pPr>
            <a:r>
              <a:rPr dirty="0"/>
              <a:t>PC1 explains 70.74% of variance; PC1–PC3 together explain 82.47%.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0D3F14-7360-8DC8-5CFE-F80BA1070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981" y="1394030"/>
            <a:ext cx="5784196" cy="38383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352" y="-124835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User Engagement — What We Measure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Engagement is quantified using session frequency, total session duration and total network traffic at customer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73152" cy="123444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444751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SESSION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55648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xDR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8600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Number of data sessions per customer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73152" cy="123444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444751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SESSION 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755648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Total duration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28600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Cumulative session time in milliseconds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2801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1280160"/>
            <a:ext cx="73152" cy="1234440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1" y="1444751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NETWORK TRAFFIC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1755648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DL + UL bytes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28600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Total download + upload traffic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2742565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IN" dirty="0"/>
              <a:t>Engagement Metrics Highlights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3124479"/>
            <a:ext cx="4974814" cy="2628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Session frequency, total session duration and total traffic are aggregated at customer level.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Maximum session frequency: 18 sessions.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Maximum total session duration: 2.09×10⁶ </a:t>
            </a:r>
            <a:r>
              <a:rPr lang="en-US" b="1" dirty="0" err="1"/>
              <a:t>ms.</a:t>
            </a:r>
            <a:endParaRPr lang="en-US" b="1" dirty="0"/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Maximum total traffic: 8.85×10⁹ bytes.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Top customers differ across the three metrics, showing distinct engagement patterns.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The three engagement metrics are standardized before K-Means clustering.</a:t>
            </a:r>
            <a:endParaRPr b="1" dirty="0"/>
          </a:p>
        </p:txBody>
      </p:sp>
      <p:sp>
        <p:nvSpPr>
          <p:cNvPr id="26" name="Rectangle 2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82791" y="3108325"/>
            <a:ext cx="5684367" cy="2871056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744"/>
                </a:solidFill>
                <a:latin typeface="Aptos"/>
              </a:defRPr>
            </a:pPr>
            <a:r>
              <a:rPr lang="en-IN" dirty="0"/>
              <a:t>Standardization Before K-Means</a:t>
            </a:r>
          </a:p>
          <a:p>
            <a:pPr algn="ctr">
              <a:defRPr sz="1600" b="1">
                <a:solidFill>
                  <a:srgbClr val="122744"/>
                </a:solidFill>
                <a:latin typeface="Aptos"/>
              </a:defRPr>
            </a:pPr>
            <a:endParaRPr lang="en-IN" dirty="0"/>
          </a:p>
          <a:p>
            <a:pPr>
              <a:defRPr sz="1600" b="1">
                <a:solidFill>
                  <a:srgbClr val="122744"/>
                </a:solidFill>
                <a:latin typeface="Aptos"/>
              </a:defRPr>
            </a:pPr>
            <a:r>
              <a:rPr lang="en-US" dirty="0"/>
              <a:t>StandardScaler was applied to the three engagement metrics.</a:t>
            </a:r>
          </a:p>
          <a:p>
            <a:pPr>
              <a:defRPr sz="1600" b="1">
                <a:solidFill>
                  <a:srgbClr val="122744"/>
                </a:solidFill>
                <a:latin typeface="Aptos"/>
              </a:defRPr>
            </a:pPr>
            <a:endParaRPr lang="en-US" dirty="0"/>
          </a:p>
          <a:p>
            <a:pPr>
              <a:defRPr sz="1600" b="1">
                <a:solidFill>
                  <a:srgbClr val="122744"/>
                </a:solidFill>
                <a:latin typeface="Aptos"/>
              </a:defRPr>
            </a:pPr>
            <a:r>
              <a:rPr lang="en-US" dirty="0"/>
              <a:t>• Standardized session frequency</a:t>
            </a:r>
          </a:p>
          <a:p>
            <a:pPr>
              <a:defRPr sz="1600" b="1">
                <a:solidFill>
                  <a:srgbClr val="122744"/>
                </a:solidFill>
                <a:latin typeface="Aptos"/>
              </a:defRPr>
            </a:pPr>
            <a:r>
              <a:rPr lang="en-US" dirty="0"/>
              <a:t>• Standardized session duration</a:t>
            </a:r>
          </a:p>
          <a:p>
            <a:pPr>
              <a:defRPr sz="1600" b="1">
                <a:solidFill>
                  <a:srgbClr val="122744"/>
                </a:solidFill>
                <a:latin typeface="Aptos"/>
              </a:defRPr>
            </a:pPr>
            <a:r>
              <a:rPr lang="en-US" dirty="0"/>
              <a:t>• Standardized total traffic</a:t>
            </a:r>
          </a:p>
          <a:p>
            <a:pPr>
              <a:defRPr sz="1600" b="1">
                <a:solidFill>
                  <a:srgbClr val="122744"/>
                </a:solidFill>
                <a:latin typeface="Aptos"/>
              </a:defRPr>
            </a:pPr>
            <a:endParaRPr lang="en-US" dirty="0"/>
          </a:p>
          <a:p>
            <a:pPr>
              <a:defRPr sz="1600" b="1">
                <a:solidFill>
                  <a:srgbClr val="122744"/>
                </a:solidFill>
                <a:latin typeface="Aptos"/>
              </a:defRPr>
            </a:pPr>
            <a:r>
              <a:rPr lang="en-US" dirty="0"/>
              <a:t>Standardization prevents different measurement scales</a:t>
            </a:r>
          </a:p>
          <a:p>
            <a:pPr>
              <a:defRPr sz="1600" b="1">
                <a:solidFill>
                  <a:srgbClr val="122744"/>
                </a:solidFill>
                <a:latin typeface="Aptos"/>
              </a:defRPr>
            </a:pPr>
            <a:r>
              <a:rPr lang="en-US" dirty="0"/>
              <a:t>from dominating clustering distance.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Engagement Clustering — Selecting K =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DE1F0"/>
                </a:solidFill>
                <a:latin typeface="Aptos"/>
              </a:defRPr>
            </a:pPr>
            <a:r>
              <a:t>TASK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6212663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rPr lang="en-US" dirty="0"/>
              <a:t>The Elbow Method indicates K = 3 as the selected value for final engagement clustering</a:t>
            </a:r>
            <a:r>
              <a:rPr dirty="0"/>
              <a:t>.</a:t>
            </a:r>
          </a:p>
        </p:txBody>
      </p:sp>
      <p:pic>
        <p:nvPicPr>
          <p:cNvPr id="7" name="Picture 6" descr="f09a_cell1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5669280" cy="36775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13258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rPr dirty="0"/>
              <a:t>Elbow evidence</a:t>
            </a:r>
            <a:r>
              <a:rPr lang="en-IN" dirty="0"/>
              <a:t> – K =3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537960" y="1783080"/>
            <a:ext cx="4846320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dirty="0"/>
              <a:t>Inertia K=2: 159,909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dirty="0"/>
              <a:t>Inertia K=3: 105,613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dirty="0"/>
              <a:t>Inertia K=4: 90,316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dirty="0"/>
              <a:t>K=3 is </a:t>
            </a:r>
            <a:r>
              <a:rPr lang="en-IN" dirty="0"/>
              <a:t>selected for</a:t>
            </a:r>
            <a:r>
              <a:rPr dirty="0"/>
              <a:t> the final engagement segmentation.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5661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Final engagement groups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023360"/>
            <a:ext cx="1828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92240" y="4023360"/>
            <a:ext cx="73152" cy="114300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56831" y="4187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1" y="4498848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4,409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5029200"/>
            <a:ext cx="155448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4.1% of customers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4023360"/>
            <a:ext cx="1828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49640" y="4023360"/>
            <a:ext cx="73152" cy="1143000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14232" y="4187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4498848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22,476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5029200"/>
            <a:ext cx="155448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21.0%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43429" y="4023360"/>
            <a:ext cx="1399429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607040" y="4023360"/>
            <a:ext cx="73152" cy="114300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71632" y="4187952"/>
            <a:ext cx="822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71632" y="4498848"/>
            <a:ext cx="117122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rPr dirty="0"/>
              <a:t>79,971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71632" y="5029200"/>
            <a:ext cx="822959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dirty="0"/>
              <a:t>74.8%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53212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737D"/>
                </a:solidFill>
                <a:latin typeface="Aptos"/>
              </a:defRPr>
            </a:pPr>
            <a:r>
              <a:rPr dirty="0"/>
              <a:t>Labels are assigned from cluster-wise mean engagement metrics, not from the numerical cluster IDs themselves.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D"/>
                </a:solidFill>
                <a:latin typeface="Aptos"/>
              </a:defRPr>
            </a:pPr>
            <a:r>
              <a:t>Source: Project notebooks (Tasks 1–4)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5AFA7-4F04-7167-84BE-ADB7C6A5A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697A0B-7673-9308-2DCF-6F92487F1A2C}"/>
              </a:ext>
            </a:extLst>
          </p:cNvPr>
          <p:cNvSpPr/>
          <p:nvPr/>
        </p:nvSpPr>
        <p:spPr>
          <a:xfrm>
            <a:off x="0" y="0"/>
            <a:ext cx="12252960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54A6F7-3D21-CAA6-3FDB-B2B57F0B51B6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Engagement Clusters – Interpreting Customer Intensity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CDBB67-A199-5912-664C-01CC4C662C8A}"/>
              </a:ext>
            </a:extLst>
          </p:cNvPr>
          <p:cNvSpPr txBox="1"/>
          <p:nvPr/>
        </p:nvSpPr>
        <p:spPr>
          <a:xfrm>
            <a:off x="530352" y="804672"/>
            <a:ext cx="5853654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rPr dirty="0"/>
              <a:t>Cluster interpretation is based on the original, no-normalized engagement metrics.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204F0C-7E1F-75BA-6D21-C4599869BEBA}"/>
              </a:ext>
            </a:extLst>
          </p:cNvPr>
          <p:cNvSpPr/>
          <p:nvPr/>
        </p:nvSpPr>
        <p:spPr>
          <a:xfrm>
            <a:off x="502920" y="1371600"/>
            <a:ext cx="2011680" cy="530352"/>
          </a:xfrm>
          <a:prstGeom prst="rect">
            <a:avLst/>
          </a:prstGeom>
          <a:solidFill>
            <a:srgbClr val="1227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Group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CC9417-677D-F38D-BC51-ACEF344EE3D5}"/>
              </a:ext>
            </a:extLst>
          </p:cNvPr>
          <p:cNvSpPr/>
          <p:nvPr/>
        </p:nvSpPr>
        <p:spPr>
          <a:xfrm>
            <a:off x="2514600" y="1371600"/>
            <a:ext cx="1463040" cy="530352"/>
          </a:xfrm>
          <a:prstGeom prst="rect">
            <a:avLst/>
          </a:prstGeom>
          <a:solidFill>
            <a:srgbClr val="1227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79F4CF-A644-7FDB-5BC1-866EE5E97F9D}"/>
              </a:ext>
            </a:extLst>
          </p:cNvPr>
          <p:cNvSpPr/>
          <p:nvPr/>
        </p:nvSpPr>
        <p:spPr>
          <a:xfrm>
            <a:off x="3977640" y="1371600"/>
            <a:ext cx="1828800" cy="530352"/>
          </a:xfrm>
          <a:prstGeom prst="rect">
            <a:avLst/>
          </a:prstGeom>
          <a:solidFill>
            <a:srgbClr val="1227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Mean Sessions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014A9F-212F-CEAD-2D90-4A8B09EE29EC}"/>
              </a:ext>
            </a:extLst>
          </p:cNvPr>
          <p:cNvSpPr/>
          <p:nvPr/>
        </p:nvSpPr>
        <p:spPr>
          <a:xfrm>
            <a:off x="5806440" y="1371600"/>
            <a:ext cx="2286000" cy="530352"/>
          </a:xfrm>
          <a:prstGeom prst="rect">
            <a:avLst/>
          </a:prstGeom>
          <a:solidFill>
            <a:srgbClr val="1227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Mean Duration (ms)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850BE3-D4AE-2934-3E7E-2BD5399DACC6}"/>
              </a:ext>
            </a:extLst>
          </p:cNvPr>
          <p:cNvSpPr/>
          <p:nvPr/>
        </p:nvSpPr>
        <p:spPr>
          <a:xfrm>
            <a:off x="8092440" y="1371600"/>
            <a:ext cx="2468880" cy="530352"/>
          </a:xfrm>
          <a:prstGeom prst="rect">
            <a:avLst/>
          </a:prstGeom>
          <a:solidFill>
            <a:srgbClr val="1227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Mean Traffic (bytes)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74117B-122A-6662-B6AD-FD21E97EA70A}"/>
              </a:ext>
            </a:extLst>
          </p:cNvPr>
          <p:cNvSpPr/>
          <p:nvPr/>
        </p:nvSpPr>
        <p:spPr>
          <a:xfrm>
            <a:off x="502920" y="1920240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399168"/>
                </a:solidFill>
                <a:latin typeface="Aptos"/>
              </a:defRPr>
            </a:pPr>
            <a:r>
              <a:t>High Engagement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6C41C7-DF80-42ED-8501-3A75FD9D9E40}"/>
              </a:ext>
            </a:extLst>
          </p:cNvPr>
          <p:cNvSpPr/>
          <p:nvPr/>
        </p:nvSpPr>
        <p:spPr>
          <a:xfrm>
            <a:off x="2514600" y="1920240"/>
            <a:ext cx="1463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t>4,409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8A829D-CA43-745E-78C0-EA3656DE7620}"/>
              </a:ext>
            </a:extLst>
          </p:cNvPr>
          <p:cNvSpPr/>
          <p:nvPr/>
        </p:nvSpPr>
        <p:spPr>
          <a:xfrm>
            <a:off x="3977640" y="1920240"/>
            <a:ext cx="1828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t>4.18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EFC463-AEC4-E8B0-1DAA-BB26A372C95D}"/>
              </a:ext>
            </a:extLst>
          </p:cNvPr>
          <p:cNvSpPr/>
          <p:nvPr/>
        </p:nvSpPr>
        <p:spPr>
          <a:xfrm>
            <a:off x="5806440" y="1920240"/>
            <a:ext cx="22860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t>447,436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809846-C515-AC2B-78EF-D56E99CB9428}"/>
              </a:ext>
            </a:extLst>
          </p:cNvPr>
          <p:cNvSpPr/>
          <p:nvPr/>
        </p:nvSpPr>
        <p:spPr>
          <a:xfrm>
            <a:off x="8092440" y="1920240"/>
            <a:ext cx="2468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t>2.16×10⁹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57CD56-84B5-686F-540E-8FCAA29B6A54}"/>
              </a:ext>
            </a:extLst>
          </p:cNvPr>
          <p:cNvSpPr/>
          <p:nvPr/>
        </p:nvSpPr>
        <p:spPr>
          <a:xfrm>
            <a:off x="502920" y="3178782"/>
            <a:ext cx="2011680" cy="621792"/>
          </a:xfrm>
          <a:prstGeom prst="rect">
            <a:avLst/>
          </a:prstGeom>
          <a:solidFill>
            <a:srgbClr val="F5F8FB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B5C8B"/>
                </a:solidFill>
                <a:latin typeface="Aptos"/>
              </a:defRPr>
            </a:pPr>
            <a:r>
              <a:rPr dirty="0"/>
              <a:t>Low Engagement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778774-25C3-D6E0-BFA0-C76B6DF83FB9}"/>
              </a:ext>
            </a:extLst>
          </p:cNvPr>
          <p:cNvSpPr/>
          <p:nvPr/>
        </p:nvSpPr>
        <p:spPr>
          <a:xfrm>
            <a:off x="2514601" y="3236976"/>
            <a:ext cx="1463040" cy="621792"/>
          </a:xfrm>
          <a:prstGeom prst="rect">
            <a:avLst/>
          </a:prstGeom>
          <a:solidFill>
            <a:srgbClr val="F5F8FB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rPr dirty="0"/>
              <a:t>79,971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3B7CA1-CCE5-FC66-DF5C-4DC87B33CB1D}"/>
              </a:ext>
            </a:extLst>
          </p:cNvPr>
          <p:cNvSpPr/>
          <p:nvPr/>
        </p:nvSpPr>
        <p:spPr>
          <a:xfrm>
            <a:off x="3977640" y="3229982"/>
            <a:ext cx="1828800" cy="621792"/>
          </a:xfrm>
          <a:prstGeom prst="rect">
            <a:avLst/>
          </a:prstGeom>
          <a:solidFill>
            <a:srgbClr val="F5F8FB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rPr dirty="0"/>
              <a:t>1.03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CC884D-BC4B-E0C4-F4B8-06532E817DFF}"/>
              </a:ext>
            </a:extLst>
          </p:cNvPr>
          <p:cNvSpPr/>
          <p:nvPr/>
        </p:nvSpPr>
        <p:spPr>
          <a:xfrm>
            <a:off x="5806441" y="3214875"/>
            <a:ext cx="2286000" cy="621792"/>
          </a:xfrm>
          <a:prstGeom prst="rect">
            <a:avLst/>
          </a:prstGeom>
          <a:solidFill>
            <a:srgbClr val="F5F8FB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rPr dirty="0"/>
              <a:t>94,069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D4DA21-1F00-C9B1-3D6D-D96D09242FE3}"/>
              </a:ext>
            </a:extLst>
          </p:cNvPr>
          <p:cNvSpPr/>
          <p:nvPr/>
        </p:nvSpPr>
        <p:spPr>
          <a:xfrm>
            <a:off x="8092439" y="3229982"/>
            <a:ext cx="2468880" cy="621792"/>
          </a:xfrm>
          <a:prstGeom prst="rect">
            <a:avLst/>
          </a:prstGeom>
          <a:solidFill>
            <a:srgbClr val="F5F8FB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t>4.98×10⁸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9F2FC3-2C8F-C79C-A407-31CAC686C0E9}"/>
              </a:ext>
            </a:extLst>
          </p:cNvPr>
          <p:cNvSpPr/>
          <p:nvPr/>
        </p:nvSpPr>
        <p:spPr>
          <a:xfrm>
            <a:off x="502921" y="2576545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E18B37"/>
                </a:solidFill>
                <a:latin typeface="Aptos"/>
              </a:defRPr>
            </a:pPr>
            <a:r>
              <a:rPr dirty="0"/>
              <a:t>Medium Engagement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A82A77-505F-B8F3-F3FE-57DFAEA4F96C}"/>
              </a:ext>
            </a:extLst>
          </p:cNvPr>
          <p:cNvSpPr/>
          <p:nvPr/>
        </p:nvSpPr>
        <p:spPr>
          <a:xfrm>
            <a:off x="2514601" y="2596896"/>
            <a:ext cx="1463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t>22,476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A822F4-BB7C-626C-DEFF-9161F0C10284}"/>
              </a:ext>
            </a:extLst>
          </p:cNvPr>
          <p:cNvSpPr/>
          <p:nvPr/>
        </p:nvSpPr>
        <p:spPr>
          <a:xfrm>
            <a:off x="3977641" y="2570024"/>
            <a:ext cx="1828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t>2.14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0C9AF9-2FDE-97AA-FEB0-770A0679236E}"/>
              </a:ext>
            </a:extLst>
          </p:cNvPr>
          <p:cNvSpPr/>
          <p:nvPr/>
        </p:nvSpPr>
        <p:spPr>
          <a:xfrm>
            <a:off x="5806441" y="2578608"/>
            <a:ext cx="22860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t>194,411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4FF00-3968-D69C-DFA8-85699775EBF9}"/>
              </a:ext>
            </a:extLst>
          </p:cNvPr>
          <p:cNvSpPr/>
          <p:nvPr/>
        </p:nvSpPr>
        <p:spPr>
          <a:xfrm>
            <a:off x="8092440" y="2593878"/>
            <a:ext cx="2468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28323E"/>
                </a:solidFill>
                <a:latin typeface="Aptos"/>
              </a:defRPr>
            </a:pPr>
            <a:r>
              <a:t>1.09×10⁹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CE04D0-760B-B8BD-3C06-3526FA27C8FD}"/>
              </a:ext>
            </a:extLst>
          </p:cNvPr>
          <p:cNvSpPr txBox="1"/>
          <p:nvPr/>
        </p:nvSpPr>
        <p:spPr>
          <a:xfrm>
            <a:off x="502920" y="40970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rPr dirty="0"/>
              <a:t>What the segmentation tells us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902656-D40D-4E29-FE16-E9ADAF181137}"/>
              </a:ext>
            </a:extLst>
          </p:cNvPr>
          <p:cNvSpPr txBox="1"/>
          <p:nvPr/>
        </p:nvSpPr>
        <p:spPr>
          <a:xfrm>
            <a:off x="530352" y="4539052"/>
            <a:ext cx="5303519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rPr dirty="0"/>
              <a:t>High Engagement has the highest average sessions, duration and traffic intensity.</a:t>
            </a:r>
          </a:p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rPr dirty="0"/>
              <a:t>Medium Engagement sits between the two groups on average engagement.</a:t>
            </a:r>
            <a:endParaRPr lang="en-IN" dirty="0"/>
          </a:p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Low Engagement is the largest segment, with the lowest average values across all three metrics.</a:t>
            </a:r>
          </a:p>
          <a:p>
            <a:pPr>
              <a:spcAft>
                <a:spcPts val="500"/>
              </a:spcAft>
              <a:defRPr sz="1550">
                <a:solidFill>
                  <a:srgbClr val="28323E"/>
                </a:solidFill>
                <a:latin typeface="Aptos"/>
              </a:defRPr>
            </a:pPr>
            <a:endParaRPr dirty="0"/>
          </a:p>
        </p:txBody>
      </p:sp>
      <p:pic>
        <p:nvPicPr>
          <p:cNvPr id="29" name="Picture 28" descr="f09a_cell31_0.png">
            <a:extLst>
              <a:ext uri="{FF2B5EF4-FFF2-40B4-BE49-F238E27FC236}">
                <a16:creationId xmlns:a16="http://schemas.microsoft.com/office/drawing/2014/main" id="{1AB23889-D3C9-4E8A-FA2A-79166A8D6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682" y="3895344"/>
            <a:ext cx="5958838" cy="2861505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475B2022-CBE1-2002-6A1C-DE9B65E91B18}"/>
              </a:ext>
            </a:extLst>
          </p:cNvPr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07A23F-A932-8918-6310-ED193DC2F65C}"/>
              </a:ext>
            </a:extLst>
          </p:cNvPr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73965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13002" y="350255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74907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lang="en-IN" dirty="0"/>
              <a:t>Cluster Statistics — Engagement Metrics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84731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endParaRPr dirty="0"/>
          </a:p>
        </p:txBody>
      </p:sp>
      <p:sp>
        <p:nvSpPr>
          <p:cNvPr id="30" name="Rectangle 2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6873FB-8DF7-8F50-20B2-F59DA1D0B898}"/>
              </a:ext>
            </a:extLst>
          </p:cNvPr>
          <p:cNvSpPr txBox="1"/>
          <p:nvPr/>
        </p:nvSpPr>
        <p:spPr>
          <a:xfrm>
            <a:off x="5565913" y="30970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6D9614-4E69-B1B5-ADE4-5CECA43CB628}"/>
              </a:ext>
            </a:extLst>
          </p:cNvPr>
          <p:cNvSpPr txBox="1"/>
          <p:nvPr/>
        </p:nvSpPr>
        <p:spPr>
          <a:xfrm>
            <a:off x="622717" y="804672"/>
            <a:ext cx="938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Non-normalized engagement metrics by High, Medium and Low engagement groups.</a:t>
            </a:r>
            <a:endParaRPr lang="en-IN" dirty="0"/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C1ED91B9-2A36-5B1A-1CA0-2364246CA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249599"/>
              </p:ext>
            </p:extLst>
          </p:nvPr>
        </p:nvGraphicFramePr>
        <p:xfrm>
          <a:off x="715082" y="1371504"/>
          <a:ext cx="8842386" cy="3900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731">
                  <a:extLst>
                    <a:ext uri="{9D8B030D-6E8A-4147-A177-3AD203B41FA5}">
                      <a16:colId xmlns:a16="http://schemas.microsoft.com/office/drawing/2014/main" val="2299946015"/>
                    </a:ext>
                  </a:extLst>
                </a:gridCol>
                <a:gridCol w="1473731">
                  <a:extLst>
                    <a:ext uri="{9D8B030D-6E8A-4147-A177-3AD203B41FA5}">
                      <a16:colId xmlns:a16="http://schemas.microsoft.com/office/drawing/2014/main" val="1000496866"/>
                    </a:ext>
                  </a:extLst>
                </a:gridCol>
                <a:gridCol w="1473731">
                  <a:extLst>
                    <a:ext uri="{9D8B030D-6E8A-4147-A177-3AD203B41FA5}">
                      <a16:colId xmlns:a16="http://schemas.microsoft.com/office/drawing/2014/main" val="218415612"/>
                    </a:ext>
                  </a:extLst>
                </a:gridCol>
                <a:gridCol w="1473731">
                  <a:extLst>
                    <a:ext uri="{9D8B030D-6E8A-4147-A177-3AD203B41FA5}">
                      <a16:colId xmlns:a16="http://schemas.microsoft.com/office/drawing/2014/main" val="4038571580"/>
                    </a:ext>
                  </a:extLst>
                </a:gridCol>
                <a:gridCol w="1473731">
                  <a:extLst>
                    <a:ext uri="{9D8B030D-6E8A-4147-A177-3AD203B41FA5}">
                      <a16:colId xmlns:a16="http://schemas.microsoft.com/office/drawing/2014/main" val="4194390502"/>
                    </a:ext>
                  </a:extLst>
                </a:gridCol>
                <a:gridCol w="1473731">
                  <a:extLst>
                    <a:ext uri="{9D8B030D-6E8A-4147-A177-3AD203B41FA5}">
                      <a16:colId xmlns:a16="http://schemas.microsoft.com/office/drawing/2014/main" val="3349909420"/>
                    </a:ext>
                  </a:extLst>
                </a:gridCol>
              </a:tblGrid>
              <a:tr h="1478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Group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Metric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Min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Max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Mean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Total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834407"/>
                  </a:ext>
                </a:extLst>
              </a:tr>
              <a:tr h="40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High Engagement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Sessions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4.18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18,441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262718"/>
                  </a:ext>
                </a:extLst>
              </a:tr>
              <a:tr h="40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High Engagement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Duration (</a:t>
                      </a:r>
                      <a:r>
                        <a:rPr lang="en-IN" sz="1200" u="none" strike="noStrike" dirty="0" err="1">
                          <a:effectLst/>
                        </a:rPr>
                        <a:t>ms</a:t>
                      </a:r>
                      <a:r>
                        <a:rPr lang="en-IN" sz="1200" u="none" strike="noStrike" dirty="0">
                          <a:effectLst/>
                        </a:rPr>
                        <a:t>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85,554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2.09×10⁶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4,47,436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1.97×10⁹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281118"/>
                  </a:ext>
                </a:extLst>
              </a:tr>
              <a:tr h="40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High Engagement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Traffic (bytes)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6.62×10⁸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8.85×10⁹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2.16×10⁹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9.53×10¹²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365788"/>
                  </a:ext>
                </a:extLst>
              </a:tr>
              <a:tr h="40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Medium Engagement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Sessions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2.14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48,193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009558"/>
                  </a:ext>
                </a:extLst>
              </a:tr>
              <a:tr h="40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Medium Engagement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Duration (ms)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18,235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5.14×10⁵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1,94,411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4.37×10⁹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720288"/>
                  </a:ext>
                </a:extLst>
              </a:tr>
              <a:tr h="40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Medium Engagement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Traffic (bytes)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1.67×10⁸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2.51×10⁹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1.09×10⁹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2.45×10¹³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156788"/>
                  </a:ext>
                </a:extLst>
              </a:tr>
              <a:tr h="40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Low Engagement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Sessions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1.03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82,301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859283"/>
                  </a:ext>
                </a:extLst>
              </a:tr>
              <a:tr h="40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Low Engagement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Duration (ms)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7,142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2.45×10⁵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94,069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7.52×10⁹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734334"/>
                  </a:ext>
                </a:extLst>
              </a:tr>
              <a:tr h="40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Low Engagement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Traffic (bytes)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3.32×10⁷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9.58×10⁸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4.98×10⁸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3.98×10¹³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28" marR="6028" marT="6028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88380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478E1868-DFB7-770C-2555-6F656206B49D}"/>
              </a:ext>
            </a:extLst>
          </p:cNvPr>
          <p:cNvSpPr txBox="1"/>
          <p:nvPr/>
        </p:nvSpPr>
        <p:spPr>
          <a:xfrm>
            <a:off x="9780103" y="1289298"/>
            <a:ext cx="2298589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rial Narrow" panose="020B0606020202030204" pitchFamily="34" charset="0"/>
              </a:rPr>
              <a:t>2</a:t>
            </a:r>
            <a:endParaRPr lang="en-US" b="1" dirty="0">
              <a:latin typeface="Arial Narrow" panose="020B0606020202030204" pitchFamily="34" charset="0"/>
            </a:endParaRPr>
          </a:p>
          <a:p>
            <a:endParaRPr lang="en-US" dirty="0">
              <a:latin typeface="Arial Narrow" panose="020B0606020202030204" pitchFamily="34" charset="0"/>
            </a:endParaRPr>
          </a:p>
          <a:p>
            <a:r>
              <a:rPr lang="en-US" sz="1600" dirty="0">
                <a:latin typeface="Arial Narrow" panose="020B0606020202030204" pitchFamily="34" charset="0"/>
              </a:rPr>
              <a:t>High Engagement shows the highest mean session frequency, duration and traffic, while Low Engagement represents the largest customer group with the lowest average engagement across all three metrics.</a:t>
            </a:r>
          </a:p>
          <a:p>
            <a:endParaRPr lang="en-US" sz="1600" dirty="0">
              <a:latin typeface="Arial Narrow" panose="020B0606020202030204" pitchFamily="34" charset="0"/>
            </a:endParaRPr>
          </a:p>
          <a:p>
            <a:r>
              <a:rPr lang="en-US" sz="1600" dirty="0">
                <a:latin typeface="Arial Narrow" panose="020B0606020202030204" pitchFamily="34" charset="0"/>
              </a:rPr>
              <a:t>Statistics are calculated on the original non-normalized engagement metrics.</a:t>
            </a:r>
            <a:endParaRPr lang="en-IN" sz="16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Application-Level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Gaming and Other are the two largest application traffic categories; YouTube is a distant third among the top three.</a:t>
            </a:r>
          </a:p>
        </p:txBody>
      </p:sp>
      <p:pic>
        <p:nvPicPr>
          <p:cNvPr id="7" name="Picture 6" descr="f09a_cell2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43585"/>
            <a:ext cx="4770425" cy="18928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13258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Top 3 application traffic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4572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92240" y="1828800"/>
            <a:ext cx="73152" cy="96012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1" y="199339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GAMING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1" y="2304288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6.41×10¹³ bytes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1" y="2834640"/>
            <a:ext cx="42976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Highest total application traffic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971800"/>
            <a:ext cx="4572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92240" y="2971800"/>
            <a:ext cx="73152" cy="96012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56831" y="313639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OTHER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1" y="3447288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6.40×10¹³ bytes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1" y="3977639"/>
            <a:ext cx="42976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Very close to Gaming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114800"/>
            <a:ext cx="4572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92240" y="4114800"/>
            <a:ext cx="73152" cy="960120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56831" y="427939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YOUTUBE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1" y="4590288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3.37×10¹² bytes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1" y="5120640"/>
            <a:ext cx="42976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Substantially below the top two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440680"/>
            <a:ext cx="466344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50" b="0">
                <a:solidFill>
                  <a:srgbClr val="69737D"/>
                </a:solidFill>
                <a:latin typeface="Aptos"/>
              </a:defRPr>
            </a:pPr>
            <a:r>
              <a:rPr lang="en-US" dirty="0"/>
              <a:t>Top 10 engaged users were computed separately for Social Media, Google, Email, YouTube, Netflix, Gaming and Other.</a:t>
            </a:r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0DDDCAA-9E04-79E8-55B5-9022DE0DF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06" y="4292050"/>
            <a:ext cx="5131064" cy="162568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60CC62F-E125-FFCF-E4B6-A8EDC24BB0D9}"/>
              </a:ext>
            </a:extLst>
          </p:cNvPr>
          <p:cNvSpPr txBox="1"/>
          <p:nvPr/>
        </p:nvSpPr>
        <p:spPr>
          <a:xfrm>
            <a:off x="502920" y="3323645"/>
            <a:ext cx="53632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APPLICATION-WISE TOP ENGAGED USERS</a:t>
            </a:r>
          </a:p>
          <a:p>
            <a:endParaRPr lang="en-US" sz="1200" b="1" dirty="0"/>
          </a:p>
          <a:p>
            <a:r>
              <a:rPr lang="en-US" sz="1200" b="1" dirty="0"/>
              <a:t>Top 10 users were derived for each application based on total data traffic.</a:t>
            </a:r>
          </a:p>
          <a:p>
            <a:r>
              <a:rPr lang="en-US" sz="1200" b="1" dirty="0"/>
              <a:t>The table below shows a compact view of the highest-engagement users.</a:t>
            </a:r>
            <a:endParaRPr lang="en-IN" sz="12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User Experience — Network Quality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951497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rPr lang="en-US" dirty="0"/>
              <a:t>Customer experience is evaluated using TCP retransmission, RTT and throughput, with handset type retained for handset-level analysis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4568" y="1343770"/>
            <a:ext cx="3243071" cy="117083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TCP RETRANSMISSION</a:t>
            </a:r>
          </a:p>
          <a:p>
            <a:pPr algn="ctr"/>
            <a:r>
              <a:rPr lang="en-US" dirty="0"/>
              <a:t>TCP DL + TCP UL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73152" cy="1234440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383280" cy="1259756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73152" cy="123444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83879" y="12801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1280160"/>
            <a:ext cx="73152" cy="123444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1" y="1444751"/>
            <a:ext cx="310896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69737D"/>
                </a:solidFill>
                <a:latin typeface="Aptos"/>
              </a:defRPr>
            </a:pPr>
            <a:r>
              <a:rPr lang="en-US" sz="1200" dirty="0"/>
              <a:t>THROUGHPUT</a:t>
            </a:r>
          </a:p>
          <a:p>
            <a:pPr>
              <a:defRPr sz="1100" b="1">
                <a:solidFill>
                  <a:srgbClr val="69737D"/>
                </a:solidFill>
                <a:latin typeface="Aptos"/>
              </a:defRPr>
            </a:pPr>
            <a:endParaRPr lang="en-US" sz="1200" dirty="0"/>
          </a:p>
          <a:p>
            <a:pPr>
              <a:defRPr sz="1100" b="1">
                <a:solidFill>
                  <a:srgbClr val="69737D"/>
                </a:solidFill>
                <a:latin typeface="Aptos"/>
              </a:defRPr>
            </a:pPr>
            <a:r>
              <a:rPr lang="en-US" sz="1200" dirty="0"/>
              <a:t>(TP DL + TP UL) / 2</a:t>
            </a:r>
          </a:p>
          <a:p>
            <a:pPr>
              <a:defRPr sz="1100" b="1">
                <a:solidFill>
                  <a:srgbClr val="69737D"/>
                </a:solidFill>
                <a:latin typeface="Aptos"/>
              </a:defRPr>
            </a:pPr>
            <a:endParaRPr lang="en-US" sz="1200" dirty="0"/>
          </a:p>
          <a:p>
            <a:pPr>
              <a:defRPr sz="1100" b="1">
                <a:solidFill>
                  <a:srgbClr val="69737D"/>
                </a:solidFill>
                <a:latin typeface="Aptos"/>
              </a:defRPr>
            </a:pPr>
            <a:r>
              <a:rPr lang="en-US" sz="1200" dirty="0"/>
              <a:t>Average bearer throughput (kbps)</a:t>
            </a:r>
            <a:endParaRPr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6172200" y="28803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Customer-level experience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337560"/>
            <a:ext cx="493776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Average TCP Retransmission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Average RTT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Average Throughput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Most frequently used Handset Type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106,856 customers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0 duplicate customer IDs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lang="en-US" b="1" dirty="0"/>
              <a:t>• 0 missing values</a:t>
            </a:r>
            <a:endParaRPr b="1" dirty="0"/>
          </a:p>
        </p:txBody>
      </p:sp>
      <p:sp>
        <p:nvSpPr>
          <p:cNvPr id="26" name="Rectangle 2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D"/>
                </a:solidFill>
                <a:latin typeface="Aptos"/>
              </a:defRPr>
            </a:pPr>
            <a:r>
              <a:t>Source: Project notebooks (Tasks 1–4)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3C1953-E9FA-9986-1D38-E6CE69B95F21}"/>
              </a:ext>
            </a:extLst>
          </p:cNvPr>
          <p:cNvSpPr txBox="1"/>
          <p:nvPr/>
        </p:nvSpPr>
        <p:spPr>
          <a:xfrm>
            <a:off x="4488152" y="1451259"/>
            <a:ext cx="31684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ROUND TRIP TIME (RTT)</a:t>
            </a:r>
          </a:p>
          <a:p>
            <a:endParaRPr lang="en-IN" sz="1200" b="1" dirty="0"/>
          </a:p>
          <a:p>
            <a:r>
              <a:rPr lang="en-IN" sz="1200" b="1" dirty="0"/>
              <a:t>(RTT DL + RTT UL) / 2</a:t>
            </a:r>
          </a:p>
          <a:p>
            <a:endParaRPr lang="en-IN" sz="1200" b="1" dirty="0"/>
          </a:p>
          <a:p>
            <a:r>
              <a:rPr lang="en-IN" sz="1200" b="1" dirty="0"/>
              <a:t>Average network response time (</a:t>
            </a:r>
            <a:r>
              <a:rPr lang="en-IN" sz="1200" b="1" dirty="0" err="1"/>
              <a:t>ms</a:t>
            </a:r>
            <a:r>
              <a:rPr lang="en-IN" sz="1200" b="1" dirty="0"/>
              <a:t>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5EC7F4-0486-EED4-006F-71EF9F857D6E}"/>
              </a:ext>
            </a:extLst>
          </p:cNvPr>
          <p:cNvSpPr txBox="1"/>
          <p:nvPr/>
        </p:nvSpPr>
        <p:spPr>
          <a:xfrm>
            <a:off x="734568" y="1444751"/>
            <a:ext cx="31290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TCP RETRANSMISSION</a:t>
            </a:r>
          </a:p>
          <a:p>
            <a:endParaRPr lang="en-US" sz="1200" b="1" dirty="0"/>
          </a:p>
          <a:p>
            <a:r>
              <a:rPr lang="en-US" sz="1200" b="1" dirty="0"/>
              <a:t>TCP DL + TCP UL</a:t>
            </a:r>
          </a:p>
          <a:p>
            <a:endParaRPr lang="en-US" sz="1200" b="1" dirty="0"/>
          </a:p>
          <a:p>
            <a:r>
              <a:rPr lang="en-US" sz="1200" b="1" dirty="0"/>
              <a:t>Combined retransmitted data (Bytes)</a:t>
            </a:r>
            <a:endParaRPr lang="en-IN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8D42A8-F643-13E9-0781-E9788EF28124}"/>
              </a:ext>
            </a:extLst>
          </p:cNvPr>
          <p:cNvSpPr txBox="1"/>
          <p:nvPr/>
        </p:nvSpPr>
        <p:spPr>
          <a:xfrm>
            <a:off x="502920" y="2981739"/>
            <a:ext cx="55930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Experience Data Preparation</a:t>
            </a:r>
          </a:p>
          <a:p>
            <a:endParaRPr lang="en-IN" dirty="0"/>
          </a:p>
          <a:p>
            <a:r>
              <a:rPr lang="en-US" sz="1600" dirty="0"/>
              <a:t>• </a:t>
            </a:r>
            <a:r>
              <a:rPr lang="en-US" sz="1600" b="1" dirty="0"/>
              <a:t>Numerical experience variables: missing values replaced with column mean.              </a:t>
            </a:r>
          </a:p>
          <a:p>
            <a:r>
              <a:rPr lang="en-US" sz="1600" b="1" dirty="0"/>
              <a:t>• Handset Type: missing values replaced with mode.</a:t>
            </a:r>
          </a:p>
          <a:p>
            <a:r>
              <a:rPr lang="en-US" sz="1600" b="1" dirty="0"/>
              <a:t>• IQR method used to detect numerical outliers.</a:t>
            </a:r>
          </a:p>
          <a:p>
            <a:r>
              <a:rPr lang="en-US" sz="1600" b="1" dirty="0"/>
              <a:t>• Detected outliers replaced with the corresponding column mean.</a:t>
            </a:r>
          </a:p>
          <a:p>
            <a:r>
              <a:rPr lang="en-US" sz="1600" b="1" dirty="0"/>
              <a:t>• Combined session-level metrics created for TCP Retransmission, RTT and Throughput.</a:t>
            </a:r>
          </a:p>
          <a:p>
            <a:r>
              <a:rPr lang="en-US" sz="1600" b="1" dirty="0"/>
              <a:t>• Metrics aggregated at customer level using MSISDN.</a:t>
            </a:r>
            <a:endParaRPr lang="en-IN" sz="16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Handset-Level Experience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917340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rPr sz="1600" dirty="0"/>
              <a:t>Observed network experience varies substantially across the most frequently observed handset types.</a:t>
            </a:r>
          </a:p>
        </p:txBody>
      </p:sp>
      <p:pic>
        <p:nvPicPr>
          <p:cNvPr id="7" name="Picture 6" descr="ac9a_cell3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93" y="1234439"/>
            <a:ext cx="5768387" cy="3097271"/>
          </a:xfrm>
          <a:prstGeom prst="rect">
            <a:avLst/>
          </a:prstGeom>
        </p:spPr>
      </p:pic>
      <p:pic>
        <p:nvPicPr>
          <p:cNvPr id="8" name="Picture 7" descr="ac9a_cell34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440680" cy="27203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D"/>
                </a:solidFill>
                <a:latin typeface="Aptos"/>
              </a:defRPr>
            </a:pPr>
            <a:r>
              <a:t>Source: Project notebooks (Tasks 1–4)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1F5D02-5FEF-A9F2-26A2-5D6FDA24EB2F}"/>
              </a:ext>
            </a:extLst>
          </p:cNvPr>
          <p:cNvSpPr txBox="1"/>
          <p:nvPr/>
        </p:nvSpPr>
        <p:spPr>
          <a:xfrm>
            <a:off x="530352" y="4357315"/>
            <a:ext cx="52104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Key Observation — Throughput</a:t>
            </a:r>
          </a:p>
          <a:p>
            <a:endParaRPr lang="en-US" sz="1600" b="1" dirty="0"/>
          </a:p>
          <a:p>
            <a:r>
              <a:rPr lang="en-US" sz="1600" b="1" dirty="0"/>
              <a:t>• Huawei B528S-23A shows the highest average throughput among the selected handset types.</a:t>
            </a:r>
          </a:p>
          <a:p>
            <a:endParaRPr lang="en-US" sz="1600" b="1" dirty="0"/>
          </a:p>
          <a:p>
            <a:r>
              <a:rPr lang="en-US" sz="1600" b="1" dirty="0"/>
              <a:t>• Average throughput varies across handset types, indicating differences in observed network performance.</a:t>
            </a:r>
            <a:endParaRPr lang="en-IN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1B20ED-DAC5-5291-DA3C-0D151B49AB5E}"/>
              </a:ext>
            </a:extLst>
          </p:cNvPr>
          <p:cNvSpPr txBox="1"/>
          <p:nvPr/>
        </p:nvSpPr>
        <p:spPr>
          <a:xfrm>
            <a:off x="6504167" y="4331710"/>
            <a:ext cx="54406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Key Observation — TCP Retransmission</a:t>
            </a:r>
          </a:p>
          <a:p>
            <a:endParaRPr lang="en-US" sz="1600" b="1" dirty="0"/>
          </a:p>
          <a:p>
            <a:r>
              <a:rPr lang="en-US" sz="1600" b="1" dirty="0"/>
              <a:t>• TCP retransmission levels vary across the selected handset types.</a:t>
            </a:r>
          </a:p>
          <a:p>
            <a:endParaRPr lang="en-US" sz="1600" b="1" dirty="0"/>
          </a:p>
          <a:p>
            <a:r>
              <a:rPr lang="en-US" sz="1600" b="1" dirty="0"/>
              <a:t>• These are descriptive handset-level differences in observed network performance; they do not establish causality.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Experience Clustering — K =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Customer experience is segmented using standardized TCP retransmission, RTT and throughput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73152" cy="123444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444751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CLUSTER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55648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43,998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86000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Mixed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28016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280160"/>
            <a:ext cx="73152" cy="123444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1" y="1444751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CLUSTER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1755648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35,909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2286000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Stronger experience characteristics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28016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1280160"/>
            <a:ext cx="73152" cy="1234440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9912" y="1444751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CLUSTER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1755648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26,949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2286000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Relatively weaker characteristics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017520"/>
            <a:ext cx="2606040" cy="502920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Cluster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3017520"/>
            <a:ext cx="2606040" cy="502920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Mean TCP Retrans.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017520"/>
            <a:ext cx="2606040" cy="502920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Mean RTT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3017520"/>
            <a:ext cx="2606040" cy="502920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Mean Throughput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566160"/>
            <a:ext cx="2606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3566160"/>
            <a:ext cx="2606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20.37M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566160"/>
            <a:ext cx="2606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21.61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3566160"/>
            <a:ext cx="26060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779 kbps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133087"/>
            <a:ext cx="2606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4133087"/>
            <a:ext cx="2606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3.90M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133087"/>
            <a:ext cx="2606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41.08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4096512"/>
            <a:ext cx="2606040" cy="576071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9,375 kbps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700016"/>
            <a:ext cx="2606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4700016"/>
            <a:ext cx="2606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20.24M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700016"/>
            <a:ext cx="2606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t>64.13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4683517"/>
            <a:ext cx="2606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323E"/>
                </a:solidFill>
                <a:latin typeface="Aptos"/>
              </a:defRPr>
            </a:pPr>
            <a:r>
              <a:rPr dirty="0"/>
              <a:t>1,265 kbps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Experience Cluster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DE1F0"/>
                </a:solidFill>
                <a:latin typeface="Aptos"/>
              </a:defRPr>
            </a:pPr>
            <a:r>
              <a:t>TASK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Cluster labels are interpreted from their metric profiles, not from the numeric IDs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486400" cy="3239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b="1" dirty="0"/>
              <a:t>Cluster 1 shows stronger network experience characteristics: lowest mean TCP retransmission (~3.90M bytes) and highest mean throughput (~9,375 kbps).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b="1" dirty="0"/>
              <a:t>Cluster 0 has a mixed profile: lowest mean RTT (~21.61 </a:t>
            </a:r>
            <a:r>
              <a:rPr b="1" dirty="0" err="1"/>
              <a:t>ms</a:t>
            </a:r>
            <a:r>
              <a:rPr b="1" dirty="0"/>
              <a:t>), but high retransmission (~20.37M) and the lowest throughput (~779 kbps).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b="1" dirty="0"/>
              <a:t>Cluster 2 shows relatively weaker characteristics: high retransmission (~20.24M), highest RTT (~64.13 </a:t>
            </a:r>
            <a:r>
              <a:rPr b="1" dirty="0" err="1"/>
              <a:t>ms</a:t>
            </a:r>
            <a:r>
              <a:rPr b="1" dirty="0"/>
              <a:t>) and relatively low throughput (~1,265 kbps).</a:t>
            </a:r>
          </a:p>
          <a:p>
            <a:pPr>
              <a:spcAft>
                <a:spcPts val="5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rPr b="1" dirty="0"/>
              <a:t>These segments provide a basis for comparing customer engagement with network experience in the satisfaction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8034" y="127817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rPr dirty="0"/>
              <a:t>Experience profile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7451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69737D"/>
                </a:solidFill>
                <a:latin typeface="Aptos"/>
              </a:defRPr>
            </a:pPr>
            <a:r>
              <a:t>TCP retransmission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1947672"/>
            <a:ext cx="685800" cy="210312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2221991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8323E"/>
                </a:solidFill>
                <a:latin typeface="Aptos"/>
              </a:defRPr>
            </a:pPr>
            <a:r>
              <a:t>20.37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947672"/>
            <a:ext cx="131301" cy="210312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0" y="2221991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8323E"/>
                </a:solidFill>
                <a:latin typeface="Aptos"/>
              </a:defRPr>
            </a:pPr>
            <a:r>
              <a:t>3.9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95560" y="1947672"/>
            <a:ext cx="681423" cy="210312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195560" y="2221991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8323E"/>
                </a:solidFill>
                <a:latin typeface="Aptos"/>
              </a:defRPr>
            </a:pPr>
            <a:r>
              <a:t>20.24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69737D"/>
                </a:solidFill>
                <a:latin typeface="Aptos"/>
              </a:defRPr>
            </a:pPr>
            <a:r>
              <a:t>RTT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3090672"/>
            <a:ext cx="231095" cy="210312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3364991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8323E"/>
                </a:solidFill>
                <a:latin typeface="Aptos"/>
              </a:defRPr>
            </a:pPr>
            <a:r>
              <a:t>21.61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3090672"/>
            <a:ext cx="439305" cy="210312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3364991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8323E"/>
                </a:solidFill>
                <a:latin typeface="Aptos"/>
              </a:defRPr>
            </a:pPr>
            <a:r>
              <a:t>41.08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95560" y="3090672"/>
            <a:ext cx="685800" cy="210312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95560" y="3364991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8323E"/>
                </a:solidFill>
                <a:latin typeface="Aptos"/>
              </a:defRPr>
            </a:pPr>
            <a:r>
              <a:t>64.13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60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69737D"/>
                </a:solidFill>
                <a:latin typeface="Aptos"/>
              </a:defRPr>
            </a:pPr>
            <a:r>
              <a:t>Throughput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20" y="4233672"/>
            <a:ext cx="73152" cy="210312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450799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8323E"/>
                </a:solidFill>
                <a:latin typeface="Aptos"/>
              </a:defRPr>
            </a:pPr>
            <a:r>
              <a:t>779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4233672"/>
            <a:ext cx="685800" cy="210312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35440" y="450799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8323E"/>
                </a:solidFill>
                <a:latin typeface="Aptos"/>
              </a:defRPr>
            </a:pPr>
            <a:r>
              <a:t>9375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95560" y="4233672"/>
            <a:ext cx="92537" cy="210312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95560" y="450799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8323E"/>
                </a:solidFill>
                <a:latin typeface="Aptos"/>
              </a:defRPr>
            </a:pPr>
            <a:r>
              <a:t>1265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4406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37D"/>
                </a:solidFill>
                <a:latin typeface="Aptos"/>
              </a:defRPr>
            </a:pPr>
            <a:r>
              <a:t>Interpretation remains descriptive: handset and cluster differences are observed patterns, not causal effects.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D"/>
                </a:solidFill>
                <a:latin typeface="Aptos"/>
              </a:defRPr>
            </a:pPr>
            <a:r>
              <a:t>Source: Project notebooks (Tasks 1–4)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From Engagement &amp; Experience to Satisfaction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Satisfaction is an analytical index derived from the two upstream scores—not a direct survey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3383280" cy="15270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73152" cy="132588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444751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ENGAGEMENT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55648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0.036 – 32.070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8600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Distance from the lower-engagement reference cluster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383280" cy="15270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73152" cy="1325880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444751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EXPERIENCE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755648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0.068 – 5.340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28600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Distance from the weaker-experience reference cluster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280160"/>
            <a:ext cx="3383280" cy="152704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1280160"/>
            <a:ext cx="73152" cy="1325880"/>
          </a:xfrm>
          <a:prstGeom prst="rect">
            <a:avLst/>
          </a:prstGeom>
          <a:solidFill>
            <a:srgbClr val="6D5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1" y="1444751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SATISFACTION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1755648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0.127 – 16.814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28600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Average of Engagement Score and Experience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246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Analytical logic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" y="3886200"/>
            <a:ext cx="105319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6D5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2744"/>
                </a:solidFill>
                <a:latin typeface="Aptos Display"/>
              </a:defRPr>
            </a:pPr>
            <a:r>
              <a:rPr dirty="0"/>
              <a:t>Satisfaction Score = (Engagement Score + Experience Score) /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035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8323E"/>
                </a:solidFill>
                <a:latin typeface="Aptos"/>
              </a:defRPr>
            </a:pPr>
            <a:r>
              <a:t>Higher score = greater distance from the selected lower-engagement and weaker-experience reference clusters.</a:t>
            </a:r>
          </a:p>
          <a:p>
            <a:pPr>
              <a:spcAft>
                <a:spcPts val="500"/>
              </a:spcAft>
              <a:defRPr sz="1350">
                <a:solidFill>
                  <a:srgbClr val="28323E"/>
                </a:solidFill>
                <a:latin typeface="Aptos"/>
              </a:defRPr>
            </a:pPr>
            <a:r>
              <a:t>This is a project-derived analytical measure; it should not be presented as a direct customer survey score.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83464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Customer Satisfaction — Top Customers &amp; Score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The satisfaction score combines the two upstream analytical scores to rank customers and support segmentation.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2801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Top satisfaction scores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783080"/>
            <a:ext cx="4572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37960" y="1783080"/>
            <a:ext cx="73152" cy="731520"/>
          </a:xfrm>
          <a:prstGeom prst="rect">
            <a:avLst/>
          </a:prstGeom>
          <a:solidFill>
            <a:srgbClr val="6D5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02552" y="194767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RANK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130552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16.814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2788920"/>
            <a:ext cx="42976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Engagement 32.070 • Experience 1.559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3739" y="2779776"/>
            <a:ext cx="4572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37960" y="2697480"/>
            <a:ext cx="73152" cy="731520"/>
          </a:xfrm>
          <a:prstGeom prst="rect">
            <a:avLst/>
          </a:prstGeom>
          <a:solidFill>
            <a:srgbClr val="6D5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02552" y="286207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RANK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131820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rPr dirty="0"/>
              <a:t>16.757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3703320"/>
            <a:ext cx="42976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Engagement 31.582 • Experience 1.931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3611880"/>
            <a:ext cx="4572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37960" y="3611880"/>
            <a:ext cx="73152" cy="731520"/>
          </a:xfrm>
          <a:prstGeom prst="rect">
            <a:avLst/>
          </a:prstGeom>
          <a:solidFill>
            <a:srgbClr val="6D5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02552" y="377647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RANK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991356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rPr dirty="0"/>
              <a:t>16.557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4617720"/>
            <a:ext cx="42976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Engagement 30.977 • Experience 2.137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4526280"/>
            <a:ext cx="4572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37960" y="4526280"/>
            <a:ext cx="73152" cy="731520"/>
          </a:xfrm>
          <a:prstGeom prst="rect">
            <a:avLst/>
          </a:prstGeom>
          <a:solidFill>
            <a:srgbClr val="6D5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02552" y="469087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RANK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4878324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rPr dirty="0"/>
              <a:t>16.419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5532120"/>
            <a:ext cx="42976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0">
                <a:solidFill>
                  <a:srgbClr val="69737D"/>
                </a:solidFill>
                <a:latin typeface="Aptos"/>
              </a:defRPr>
            </a:pPr>
            <a:r>
              <a:rPr lang="fr-FR" sz="1600" b="1" dirty="0"/>
              <a:t>Rank 4 — Engagement 30.511 • Experience 2.327</a:t>
            </a:r>
            <a:endParaRPr sz="1600" b="1" dirty="0"/>
          </a:p>
        </p:txBody>
      </p:sp>
      <p:sp>
        <p:nvSpPr>
          <p:cNvPr id="30" name="Rectangle 2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1394" y="1574358"/>
            <a:ext cx="5199419" cy="2291887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744"/>
                </a:solidFill>
                <a:latin typeface="Aptos"/>
              </a:defRPr>
            </a:pPr>
            <a:r>
              <a:rPr dirty="0"/>
              <a:t>SATISFACTION SCORE PROFILE</a:t>
            </a:r>
          </a:p>
          <a:p>
            <a:pPr>
              <a:spcAft>
                <a:spcPts val="700"/>
              </a:spcAft>
              <a:defRPr sz="1500">
                <a:solidFill>
                  <a:srgbClr val="28323E"/>
                </a:solidFill>
                <a:latin typeface="Aptos"/>
              </a:defRPr>
            </a:pPr>
            <a:endParaRPr lang="en-IN" sz="1100" dirty="0"/>
          </a:p>
          <a:p>
            <a:pPr>
              <a:spcAft>
                <a:spcPts val="700"/>
              </a:spcAft>
              <a:defRPr sz="1500">
                <a:solidFill>
                  <a:srgbClr val="28323E"/>
                </a:solidFill>
                <a:latin typeface="Aptos"/>
              </a:defRPr>
            </a:pPr>
            <a:r>
              <a:rPr sz="1100" dirty="0"/>
              <a:t>Mean: 1.601</a:t>
            </a:r>
          </a:p>
          <a:p>
            <a:pPr>
              <a:spcAft>
                <a:spcPts val="700"/>
              </a:spcAft>
              <a:defRPr sz="1500">
                <a:solidFill>
                  <a:srgbClr val="28323E"/>
                </a:solidFill>
                <a:latin typeface="Aptos"/>
              </a:defRPr>
            </a:pPr>
            <a:r>
              <a:rPr sz="1100" dirty="0"/>
              <a:t>Median: 1.532</a:t>
            </a:r>
          </a:p>
          <a:p>
            <a:pPr>
              <a:spcAft>
                <a:spcPts val="700"/>
              </a:spcAft>
              <a:defRPr sz="1500">
                <a:solidFill>
                  <a:srgbClr val="28323E"/>
                </a:solidFill>
                <a:latin typeface="Aptos"/>
              </a:defRPr>
            </a:pPr>
            <a:r>
              <a:rPr sz="1100" dirty="0"/>
              <a:t>75th percentile: 1.955</a:t>
            </a:r>
          </a:p>
          <a:p>
            <a:pPr>
              <a:spcAft>
                <a:spcPts val="700"/>
              </a:spcAft>
              <a:defRPr sz="1500">
                <a:solidFill>
                  <a:srgbClr val="28323E"/>
                </a:solidFill>
                <a:latin typeface="Aptos"/>
              </a:defRPr>
            </a:pPr>
            <a:r>
              <a:rPr sz="1100" dirty="0"/>
              <a:t>Minimum: 0.127</a:t>
            </a:r>
          </a:p>
          <a:p>
            <a:pPr>
              <a:spcAft>
                <a:spcPts val="700"/>
              </a:spcAft>
              <a:defRPr sz="1500">
                <a:solidFill>
                  <a:srgbClr val="28323E"/>
                </a:solidFill>
                <a:latin typeface="Aptos"/>
              </a:defRPr>
            </a:pPr>
            <a:r>
              <a:rPr sz="1100" dirty="0"/>
              <a:t>Maximum: 16.814</a:t>
            </a:r>
            <a:endParaRPr lang="en-IN" sz="1100" dirty="0"/>
          </a:p>
          <a:p>
            <a:pPr>
              <a:spcAft>
                <a:spcPts val="700"/>
              </a:spcAft>
              <a:defRPr sz="1500">
                <a:solidFill>
                  <a:srgbClr val="28323E"/>
                </a:solidFill>
                <a:latin typeface="Aptos"/>
              </a:defRPr>
            </a:pPr>
            <a:endParaRPr lang="en-US" sz="1400" dirty="0"/>
          </a:p>
          <a:p>
            <a:pPr>
              <a:spcAft>
                <a:spcPts val="700"/>
              </a:spcAft>
              <a:defRPr sz="1500">
                <a:solidFill>
                  <a:srgbClr val="28323E"/>
                </a:solidFill>
                <a:latin typeface="Aptos"/>
              </a:defRPr>
            </a:pPr>
            <a:r>
              <a:rPr lang="en-US" sz="1400" dirty="0"/>
              <a:t>The top-ranked customers are driven primarily by high Engagement Scores, while Experience Scores provide an additional contribution to the combined index.</a:t>
            </a:r>
          </a:p>
          <a:p>
            <a:pPr>
              <a:spcAft>
                <a:spcPts val="700"/>
              </a:spcAft>
              <a:defRPr sz="1500">
                <a:solidFill>
                  <a:srgbClr val="28323E"/>
                </a:solidFill>
                <a:latin typeface="Aptos"/>
              </a:defRPr>
            </a:pPr>
            <a:endParaRPr sz="1100" dirty="0"/>
          </a:p>
          <a:p>
            <a:pPr>
              <a:spcAft>
                <a:spcPts val="700"/>
              </a:spcAft>
              <a:defRPr sz="1350">
                <a:solidFill>
                  <a:srgbClr val="28323E"/>
                </a:solidFill>
                <a:latin typeface="Aptos"/>
              </a:defRPr>
            </a:pPr>
            <a:endParaRPr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FC158F0-E58A-2A55-ACC4-4F333A8AC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78" y="3933891"/>
            <a:ext cx="5793850" cy="24868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Satisfaction Clustering &amp;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K-Means creates two satisfaction-related groups; regression reproduces the mathematically derived satisfaction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59"/>
            <a:ext cx="2468880" cy="1501445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73152" cy="114300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444751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CLUSTER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55648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37,238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86000"/>
            <a:ext cx="219456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dirty="0"/>
              <a:t>Mean satisfaction 1.3549</a:t>
            </a:r>
            <a:endParaRPr lang="en-IN" dirty="0"/>
          </a:p>
          <a:p>
            <a:pPr>
              <a:defRPr sz="1050" b="0">
                <a:solidFill>
                  <a:srgbClr val="69737D"/>
                </a:solidFill>
                <a:latin typeface="Aptos"/>
              </a:defRPr>
            </a:pPr>
            <a:r>
              <a:rPr lang="en-IN" dirty="0"/>
              <a:t>Mean experience 0.8731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3337560" y="1280160"/>
            <a:ext cx="2468880" cy="1501444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1280160"/>
            <a:ext cx="73152" cy="1143000"/>
          </a:xfrm>
          <a:prstGeom prst="rect">
            <a:avLst/>
          </a:prstGeom>
          <a:solidFill>
            <a:srgbClr val="6D5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2152" y="1444751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CLUSTER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1755648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69,618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286000"/>
            <a:ext cx="219456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dirty="0"/>
              <a:t>Mean satisfaction 1.7328</a:t>
            </a:r>
            <a:endParaRPr lang="en-IN" dirty="0"/>
          </a:p>
          <a:p>
            <a:pPr>
              <a:defRPr sz="1050" b="0">
                <a:solidFill>
                  <a:srgbClr val="69737D"/>
                </a:solidFill>
                <a:latin typeface="Aptos"/>
              </a:defRPr>
            </a:pPr>
            <a:r>
              <a:rPr lang="en-IN" dirty="0"/>
              <a:t>Mean experience 2.5482</a:t>
            </a:r>
            <a:endParaRPr dirty="0"/>
          </a:p>
        </p:txBody>
      </p:sp>
      <p:pic>
        <p:nvPicPr>
          <p:cNvPr id="17" name="Picture 16" descr="c516_cell1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0"/>
            <a:ext cx="5361167" cy="40039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0" y="27889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Regression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33756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3337560"/>
            <a:ext cx="73152" cy="105156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5392" y="350215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MSE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813048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0.0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343400"/>
            <a:ext cx="20116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Exact reproduction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3337560"/>
            <a:ext cx="2286000" cy="1197864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06840" y="3337560"/>
            <a:ext cx="73152" cy="105156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71432" y="350215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R²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3813048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1.0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4343400"/>
            <a:ext cx="20116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Exact linear relationship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663440"/>
            <a:ext cx="4937760" cy="138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8323E"/>
                </a:solidFill>
                <a:latin typeface="Aptos"/>
              </a:defRPr>
            </a:pPr>
            <a:r>
              <a:rPr sz="1600" b="1" dirty="0"/>
              <a:t>Actual vs predicted values align almost perfectly.</a:t>
            </a:r>
          </a:p>
          <a:p>
            <a:pPr>
              <a:spcAft>
                <a:spcPts val="500"/>
              </a:spcAft>
              <a:defRPr sz="1350">
                <a:solidFill>
                  <a:srgbClr val="28323E"/>
                </a:solidFill>
                <a:latin typeface="Aptos"/>
              </a:defRPr>
            </a:pPr>
            <a:r>
              <a:rPr sz="1600" b="1" dirty="0"/>
              <a:t>The result is deterministic because Satisfaction Score is defined from Engagement Score and Experience Score—the same predictors used in regression.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SQL Server Integration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rPr dirty="0"/>
              <a:t>Three customer-level analytical datasets were prepared, validated and uploaded to the TelecomAnalytics SQL Server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73152" cy="1325880"/>
          </a:xfrm>
          <a:prstGeom prst="rect">
            <a:avLst/>
          </a:prstGeom>
          <a:solidFill>
            <a:srgbClr val="E1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49047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01368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106,856 ×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331720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Network experience + cluster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325880"/>
            <a:ext cx="73152" cy="132588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149047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Engagement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801368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106,856 ×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331720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Usage metrics + cluster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3258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325880"/>
            <a:ext cx="73152" cy="1325880"/>
          </a:xfrm>
          <a:prstGeom prst="rect">
            <a:avLst/>
          </a:prstGeom>
          <a:solidFill>
            <a:srgbClr val="6D5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1" y="149047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Satisfaction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1801368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744"/>
                </a:solidFill>
                <a:latin typeface="Aptos"/>
              </a:defRPr>
            </a:pPr>
            <a:r>
              <a:t>106,856 ×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331720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t>Scores + satisfaction cluster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" y="2750111"/>
            <a:ext cx="5212079" cy="33547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dirty="0"/>
              <a:t>VALIDATION CHECKS</a:t>
            </a:r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endParaRPr lang="en-US" sz="1200" dirty="0"/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sz="1400" dirty="0"/>
              <a:t>• Customer count: 106,856 in all three datasets.</a:t>
            </a:r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sz="1400" dirty="0"/>
              <a:t>• Experience, Engagement and Satisfaction tables verified.</a:t>
            </a:r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sz="1400" dirty="0"/>
              <a:t>• Sample customer-level records validated for key analytical fields.</a:t>
            </a:r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sz="1400" dirty="0"/>
              <a:t>• Top-10 customers identified using Satisfaction Score.</a:t>
            </a:r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sz="1400" dirty="0"/>
              <a:t>• Row counts validated in SQL Server:</a:t>
            </a:r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sz="1400" dirty="0"/>
              <a:t>  Experience: 106,856</a:t>
            </a:r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sz="1400" dirty="0"/>
              <a:t>  Engagement: 106,856</a:t>
            </a:r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sz="1400" dirty="0"/>
              <a:t>  Satisfaction: 106,856</a:t>
            </a:r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sz="1400" dirty="0"/>
              <a:t>• Satisfaction outputs validated using MSISDN, Engagement Score,</a:t>
            </a:r>
          </a:p>
          <a:p>
            <a:pPr>
              <a:defRPr sz="1800" b="1">
                <a:solidFill>
                  <a:srgbClr val="122744"/>
                </a:solidFill>
                <a:latin typeface="Aptos"/>
              </a:defRPr>
            </a:pPr>
            <a:r>
              <a:rPr lang="en-US" sz="1400" dirty="0"/>
              <a:t>  Experience Score, Satisfaction Score and Satisfaction Cluster.</a:t>
            </a:r>
            <a:endParaRPr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6309360" y="3063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SQL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520440"/>
            <a:ext cx="49377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8323E"/>
                </a:solidFill>
                <a:latin typeface="Consolas"/>
              </a:defRPr>
            </a:pPr>
            <a:r>
              <a:t>SELECT TOP (10)</a:t>
            </a:r>
            <a:br/>
            <a:r>
              <a:t>    [MSISDN_Number],</a:t>
            </a:r>
            <a:br/>
            <a:r>
              <a:t>    [Engagement_Score],</a:t>
            </a:r>
            <a:br/>
            <a:r>
              <a:t>    [Experience_Score],</a:t>
            </a:r>
            <a:br/>
            <a:r>
              <a:t>    [Satisfaction_Score],</a:t>
            </a:r>
            <a:br/>
            <a:r>
              <a:t>    [Satisfaction_Cluster]</a:t>
            </a:r>
            <a:br/>
            <a:r>
              <a:t>FROM dbo.Satisfaction;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5321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737D"/>
                </a:solidFill>
                <a:latin typeface="Aptos"/>
              </a:defRPr>
            </a:pPr>
            <a:r>
              <a:t>SQL validation script supplied separately; no credentials are shown in the presentation.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56284-D99A-7863-6E1B-F6D70F9B4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387E84-7544-0E27-63A8-730EEE598ED9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C03C3C-EA83-4FBF-66D2-0EFE41F9703B}"/>
              </a:ext>
            </a:extLst>
          </p:cNvPr>
          <p:cNvSpPr txBox="1"/>
          <p:nvPr/>
        </p:nvSpPr>
        <p:spPr>
          <a:xfrm>
            <a:off x="502920" y="128016"/>
            <a:ext cx="479554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lang="en-IN" dirty="0"/>
              <a:t>SQL Server Validation — Evidence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00ED29-9CE6-7D69-53AA-46CCA8E1B3E5}"/>
              </a:ext>
            </a:extLst>
          </p:cNvPr>
          <p:cNvSpPr txBox="1"/>
          <p:nvPr/>
        </p:nvSpPr>
        <p:spPr>
          <a:xfrm>
            <a:off x="530352" y="804672"/>
            <a:ext cx="6214458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rPr lang="en-US" dirty="0"/>
              <a:t>SQL queries validate table availability, customer-level records and satisfaction outputs</a:t>
            </a:r>
            <a:r>
              <a:rPr dirty="0"/>
              <a:t>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6E8059-F777-3BE1-171D-263F97AF3F3D}"/>
              </a:ext>
            </a:extLst>
          </p:cNvPr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A09FC7-019E-370F-3854-69531BA03E37}"/>
              </a:ext>
            </a:extLst>
          </p:cNvPr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18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CA10B55-33B3-7ADD-8845-263C4B4B8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1" y="1256933"/>
            <a:ext cx="5456981" cy="273462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3EFC26B-A8B2-D91C-6716-9C2976B38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11" y="1089366"/>
            <a:ext cx="5062876" cy="302034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EA686A1-9B1F-E210-8609-DCFC7DBE14F4}"/>
              </a:ext>
            </a:extLst>
          </p:cNvPr>
          <p:cNvSpPr txBox="1"/>
          <p:nvPr/>
        </p:nvSpPr>
        <p:spPr>
          <a:xfrm>
            <a:off x="628153" y="4182386"/>
            <a:ext cx="412672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SQL SERVER DATABASE</a:t>
            </a:r>
          </a:p>
          <a:p>
            <a:r>
              <a:rPr lang="en-IN" sz="1400" b="1" dirty="0"/>
              <a:t>TelecomAnalytics database with</a:t>
            </a:r>
          </a:p>
          <a:p>
            <a:r>
              <a:rPr lang="en-IN" sz="1400" b="1" dirty="0"/>
              <a:t>Experience, Engagement &amp; Satisfaction tables.</a:t>
            </a:r>
          </a:p>
          <a:p>
            <a:endParaRPr lang="en-IN" sz="1400" b="1" dirty="0"/>
          </a:p>
          <a:p>
            <a:r>
              <a:rPr lang="en-US" sz="1400" b="1" dirty="0"/>
              <a:t>TOP-10 CUSTOMER VALIDATION</a:t>
            </a:r>
          </a:p>
          <a:p>
            <a:r>
              <a:rPr lang="en-US" sz="1400" b="1" dirty="0"/>
              <a:t>Top 10 customers identified using</a:t>
            </a:r>
          </a:p>
          <a:p>
            <a:r>
              <a:rPr lang="en-US" sz="1400" b="1" dirty="0"/>
              <a:t>Satisfaction Score in descending order.</a:t>
            </a:r>
            <a:endParaRPr lang="en-IN" sz="14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606408-A2D8-C91A-E61B-7944415D55F1}"/>
              </a:ext>
            </a:extLst>
          </p:cNvPr>
          <p:cNvSpPr txBox="1"/>
          <p:nvPr/>
        </p:nvSpPr>
        <p:spPr>
          <a:xfrm>
            <a:off x="6885830" y="4412974"/>
            <a:ext cx="49218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ROW COUNT VALIDATION</a:t>
            </a:r>
          </a:p>
          <a:p>
            <a:r>
              <a:rPr lang="en-IN" sz="1600" b="1" dirty="0"/>
              <a:t>Experience: 106,856</a:t>
            </a:r>
          </a:p>
          <a:p>
            <a:r>
              <a:rPr lang="en-IN" sz="1600" b="1" dirty="0"/>
              <a:t>Engagement: 106,856</a:t>
            </a:r>
          </a:p>
          <a:p>
            <a:r>
              <a:rPr lang="en-IN" sz="1600" b="1" dirty="0"/>
              <a:t>Satisfaction: 106,856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A5BD79-2A52-15C8-B29B-F188850C57BF}"/>
              </a:ext>
            </a:extLst>
          </p:cNvPr>
          <p:cNvSpPr txBox="1"/>
          <p:nvPr/>
        </p:nvSpPr>
        <p:spPr>
          <a:xfrm>
            <a:off x="530351" y="6017239"/>
            <a:ext cx="8134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SQL evidence from TelecomAnalytics database • Validation queries executed in SQL Server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1671675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951516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Business Insights, Opportunities &amp; Limitations</a:t>
            </a:r>
            <a:r>
              <a:rPr lang="en-IN" dirty="0"/>
              <a:t> and Recommendation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  <a:latin typeface="Aptos"/>
              </a:defRPr>
            </a:pPr>
            <a:r>
              <a:t>Translate the analytical findings into actionable areas while keeping conclusions proportional to the available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What the data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3474720" cy="312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2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Most customers are in the Low Engagement segment (79,971), followed by Medium (22,476) and High Engagement (4,409).</a:t>
            </a:r>
          </a:p>
          <a:p>
            <a:pPr>
              <a:spcAft>
                <a:spcPts val="500"/>
              </a:spcAft>
              <a:defRPr sz="142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Gaming and Other are the dominant application traffic categories.</a:t>
            </a:r>
          </a:p>
          <a:p>
            <a:pPr>
              <a:spcAft>
                <a:spcPts val="500"/>
              </a:spcAft>
              <a:defRPr sz="142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Experience differs across customer clusters; Cluster 1 has the highest mean throughput and lowest mean retransmission.</a:t>
            </a:r>
          </a:p>
          <a:p>
            <a:pPr>
              <a:spcAft>
                <a:spcPts val="500"/>
              </a:spcAft>
              <a:defRPr sz="142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Satisfaction varies across two clusters, with Cluster 1 showing a higher average satisfaction score.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12344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Opportunities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91640"/>
            <a:ext cx="3474720" cy="2469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2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Design targeted engagement initiatives for the large low-engagement population.</a:t>
            </a:r>
          </a:p>
          <a:p>
            <a:pPr>
              <a:spcAft>
                <a:spcPts val="500"/>
              </a:spcAft>
              <a:defRPr sz="142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Prioritize network diagnostics and QoS improvements for weaker-experience segments.</a:t>
            </a:r>
          </a:p>
          <a:p>
            <a:pPr>
              <a:spcAft>
                <a:spcPts val="500"/>
              </a:spcAft>
              <a:defRPr sz="142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Use application and handset usage patterns to guide service optimization and compatibility testing.</a:t>
            </a:r>
          </a:p>
          <a:p>
            <a:pPr>
              <a:spcAft>
                <a:spcPts val="500"/>
              </a:spcAft>
              <a:defRPr sz="142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Track engagement and experience jointly to identify priority customer segments.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092440" y="12344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2744"/>
                </a:solidFill>
                <a:latin typeface="Aptos"/>
              </a:defRPr>
            </a:pPr>
            <a:r>
              <a:t>Limitations /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691640"/>
            <a:ext cx="3383280" cy="2362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Satisfaction is a derived analytical index, not a survey measure.</a:t>
            </a:r>
          </a:p>
          <a:p>
            <a:pPr>
              <a:spcAft>
                <a:spcPts val="500"/>
              </a:spcAft>
              <a:defRPr sz="135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Regression performance is deterministic because Satisfaction Score is mathematically derived from its predictors.</a:t>
            </a:r>
          </a:p>
          <a:p>
            <a:pPr>
              <a:spcAft>
                <a:spcPts val="500"/>
              </a:spcAft>
              <a:defRPr sz="135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Cluster interpretations are descriptive and depend on selected features and K.</a:t>
            </a:r>
          </a:p>
          <a:p>
            <a:pPr>
              <a:spcAft>
                <a:spcPts val="500"/>
              </a:spcAft>
              <a:defRPr sz="1350">
                <a:solidFill>
                  <a:srgbClr val="28323E"/>
                </a:solidFill>
                <a:latin typeface="Aptos"/>
              </a:defRPr>
            </a:pPr>
            <a:r>
              <a:rPr lang="en-US" dirty="0"/>
              <a:t>• Observed cluster and handset differences are descriptive patterns and should not be interpreted as causal effects.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52760" y="64922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7ADE2B-AD1C-C67E-4577-329737E67BBB}"/>
              </a:ext>
            </a:extLst>
          </p:cNvPr>
          <p:cNvSpPr txBox="1"/>
          <p:nvPr/>
        </p:nvSpPr>
        <p:spPr>
          <a:xfrm>
            <a:off x="7818121" y="4330090"/>
            <a:ext cx="4272280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RECOMMENDATION</a:t>
            </a:r>
          </a:p>
          <a:p>
            <a:endParaRPr lang="en-US" sz="1100" b="1" dirty="0"/>
          </a:p>
          <a:p>
            <a:r>
              <a:rPr lang="en-US" sz="1100" b="1" dirty="0"/>
              <a:t>Growth potential:</a:t>
            </a:r>
          </a:p>
          <a:p>
            <a:r>
              <a:rPr lang="en-US" sz="1100" b="1" dirty="0"/>
              <a:t>The analysis indicates identifiable growth opportunities through</a:t>
            </a:r>
          </a:p>
          <a:p>
            <a:r>
              <a:rPr lang="en-US" sz="1100" b="1" dirty="0"/>
              <a:t>customer engagement initiatives, network-quality improvements</a:t>
            </a:r>
          </a:p>
          <a:p>
            <a:r>
              <a:rPr lang="en-US" sz="1100" b="1" dirty="0"/>
              <a:t>and service optimization.</a:t>
            </a:r>
          </a:p>
          <a:p>
            <a:endParaRPr lang="en-US" sz="1100" b="1" dirty="0"/>
          </a:p>
          <a:p>
            <a:r>
              <a:rPr lang="en-US" sz="1100" b="1" dirty="0"/>
              <a:t>Purchase consideration:</a:t>
            </a:r>
          </a:p>
          <a:p>
            <a:r>
              <a:rPr lang="en-US" sz="1100" b="1" dirty="0"/>
              <a:t>A purchase decision should be conditional on satisfactory</a:t>
            </a:r>
          </a:p>
          <a:p>
            <a:r>
              <a:rPr lang="en-US" sz="1100" b="1" dirty="0"/>
              <a:t>financial, commercial and operational due diligence beyond</a:t>
            </a:r>
          </a:p>
          <a:p>
            <a:r>
              <a:rPr lang="en-US" sz="1100" b="1" dirty="0"/>
              <a:t>this dataset.</a:t>
            </a:r>
            <a:endParaRPr lang="en-IN" sz="11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DE34DDC-6C3E-128A-6C27-9107CD824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792" y="4309146"/>
            <a:ext cx="3439233" cy="229282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5919281"/>
            <a:ext cx="1005840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rPr sz="4400" dirty="0"/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ABECD"/>
                </a:solidFill>
                <a:latin typeface="Aptos"/>
              </a:defRPr>
            </a:pPr>
            <a:r>
              <a:t>20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1E7538-CC2F-91C7-E053-20442B1E4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751" y="1179775"/>
            <a:ext cx="5584467" cy="40869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3D59EE-6CC4-4ED5-5407-B7214729D56C}"/>
              </a:ext>
            </a:extLst>
          </p:cNvPr>
          <p:cNvSpPr txBox="1"/>
          <p:nvPr/>
        </p:nvSpPr>
        <p:spPr>
          <a:xfrm>
            <a:off x="628715" y="1785641"/>
            <a:ext cx="59555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REFERENCES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Technical Tools &amp; Integration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• Python: Pandas, NumPy, Matplotlib, Seaborn, Scikit-learn</a:t>
            </a:r>
          </a:p>
          <a:p>
            <a:r>
              <a:rPr lang="en-IN" dirty="0">
                <a:solidFill>
                  <a:schemeClr val="bg1"/>
                </a:solidFill>
              </a:rPr>
              <a:t>• SQL Server / SQLAlchemy / pyodbc integration evidence from Task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2639</TotalTime>
  <Words>2593</Words>
  <Application>Microsoft Office PowerPoint</Application>
  <PresentationFormat>Widescreen</PresentationFormat>
  <Paragraphs>519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 Narrow</vt:lpstr>
      <vt:lpstr>Arial</vt:lpstr>
      <vt:lpstr>Arial Narrow</vt:lpstr>
      <vt:lpstr>Neue Haas Grotesk Text Pro</vt:lpstr>
      <vt:lpstr>System Font Regular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Shruti Pandey</cp:lastModifiedBy>
  <cp:revision>3</cp:revision>
  <dcterms:created xsi:type="dcterms:W3CDTF">2013-01-27T09:14:16Z</dcterms:created>
  <dcterms:modified xsi:type="dcterms:W3CDTF">2026-10-03T16:13:24Z</dcterms:modified>
  <cp:category/>
</cp:coreProperties>
</file>